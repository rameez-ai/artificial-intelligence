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7" r:id="rId2"/>
    <p:sldId id="256" r:id="rId3"/>
    <p:sldId id="257" r:id="rId4"/>
    <p:sldId id="258" r:id="rId5"/>
    <p:sldId id="259" r:id="rId6"/>
    <p:sldId id="260" r:id="rId7"/>
    <p:sldId id="261" r:id="rId8"/>
    <p:sldId id="262" r:id="rId9"/>
    <p:sldId id="263" r:id="rId10"/>
    <p:sldId id="264" r:id="rId11"/>
    <p:sldId id="265"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2398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4762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891B2"/>
          </a:solidFill>
          <a:ln w="12700">
            <a:solidFill>
              <a:srgbClr val="0891B2"/>
            </a:solidFill>
            <a:prstDash val="solid"/>
          </a:ln>
        </p:spPr>
      </p:sp>
      <p:sp>
        <p:nvSpPr>
          <p:cNvPr id="3" name="Shape 1"/>
          <p:cNvSpPr/>
          <p:nvPr/>
        </p:nvSpPr>
        <p:spPr>
          <a:xfrm>
            <a:off x="201168" y="0"/>
            <a:ext cx="8942832" cy="54864"/>
          </a:xfrm>
          <a:prstGeom prst="rect">
            <a:avLst/>
          </a:prstGeom>
          <a:solidFill>
            <a:srgbClr val="0891B2"/>
          </a:solidFill>
          <a:ln w="12700">
            <a:solidFill>
              <a:srgbClr val="0891B2"/>
            </a:solidFill>
            <a:prstDash val="solid"/>
          </a:ln>
        </p:spPr>
      </p:sp>
      <p:sp>
        <p:nvSpPr>
          <p:cNvPr id="4" name="Shape 2"/>
          <p:cNvSpPr/>
          <p:nvPr/>
        </p:nvSpPr>
        <p:spPr>
          <a:xfrm>
            <a:off x="201168" y="5088636"/>
            <a:ext cx="8942832" cy="54864"/>
          </a:xfrm>
          <a:prstGeom prst="rect">
            <a:avLst/>
          </a:prstGeom>
          <a:solidFill>
            <a:srgbClr val="0891B2"/>
          </a:solidFill>
          <a:ln w="12700">
            <a:solidFill>
              <a:srgbClr val="0891B2"/>
            </a:solidFill>
            <a:prstDash val="solid"/>
          </a:ln>
        </p:spPr>
      </p:sp>
      <p:sp>
        <p:nvSpPr>
          <p:cNvPr id="5" name="Shape 3"/>
          <p:cNvSpPr/>
          <p:nvPr/>
        </p:nvSpPr>
        <p:spPr>
          <a:xfrm>
            <a:off x="457200" y="502920"/>
            <a:ext cx="8321040" cy="2697480"/>
          </a:xfrm>
          <a:prstGeom prst="rect">
            <a:avLst/>
          </a:prstGeom>
          <a:solidFill>
            <a:srgbClr val="0A2540"/>
          </a:solidFill>
          <a:ln w="12700">
            <a:solidFill>
              <a:srgbClr val="0891B2"/>
            </a:solidFill>
            <a:prstDash val="solid"/>
          </a:ln>
          <a:effectLst>
            <a:outerShdw blurRad="63500" dist="25400" dir="8100000" algn="bl" rotWithShape="0">
              <a:srgbClr val="000000">
                <a:alpha val="12000"/>
              </a:srgbClr>
            </a:outerShdw>
          </a:effectLst>
        </p:spPr>
      </p:sp>
      <p:sp>
        <p:nvSpPr>
          <p:cNvPr id="6" name="Text 4"/>
          <p:cNvSpPr/>
          <p:nvPr/>
        </p:nvSpPr>
        <p:spPr>
          <a:xfrm>
            <a:off x="640080" y="594360"/>
            <a:ext cx="7955280" cy="1371600"/>
          </a:xfrm>
          <a:prstGeom prst="rect">
            <a:avLst/>
          </a:prstGeom>
          <a:noFill/>
          <a:ln/>
        </p:spPr>
        <p:txBody>
          <a:bodyPr wrap="square" rtlCol="0" anchor="ctr"/>
          <a:lstStyle/>
          <a:p>
            <a:pPr marL="0" indent="0" algn="l">
              <a:buNone/>
            </a:pPr>
            <a:r>
              <a:rPr lang="en-US" sz="5800" b="1" dirty="0">
                <a:solidFill>
                  <a:srgbClr val="FFFFFF"/>
                </a:solidFill>
                <a:latin typeface="Calibri" pitchFamily="34" charset="0"/>
                <a:ea typeface="Calibri" pitchFamily="34" charset="-122"/>
                <a:cs typeface="Calibri" pitchFamily="34" charset="-120"/>
              </a:rPr>
              <a:t>SmartLoan AI</a:t>
            </a:r>
            <a:endParaRPr lang="en-US" sz="5800" dirty="0"/>
          </a:p>
        </p:txBody>
      </p:sp>
      <p:sp>
        <p:nvSpPr>
          <p:cNvPr id="7" name="Text 5"/>
          <p:cNvSpPr/>
          <p:nvPr/>
        </p:nvSpPr>
        <p:spPr>
          <a:xfrm>
            <a:off x="640080" y="1920240"/>
            <a:ext cx="7955280" cy="502920"/>
          </a:xfrm>
          <a:prstGeom prst="rect">
            <a:avLst/>
          </a:prstGeom>
          <a:noFill/>
          <a:ln/>
        </p:spPr>
        <p:txBody>
          <a:bodyPr wrap="square" rtlCol="0" anchor="ctr"/>
          <a:lstStyle/>
          <a:p>
            <a:pPr marL="0" indent="0" algn="l">
              <a:buNone/>
            </a:pPr>
            <a:r>
              <a:rPr lang="en-US" sz="2000" dirty="0">
                <a:solidFill>
                  <a:srgbClr val="7DD3FC"/>
                </a:solidFill>
                <a:latin typeface="Calibri" pitchFamily="34" charset="0"/>
                <a:ea typeface="Calibri" pitchFamily="34" charset="-122"/>
                <a:cs typeface="Calibri" pitchFamily="34" charset="-120"/>
              </a:rPr>
              <a:t>AI-Powered Web Financial Advisory System</a:t>
            </a:r>
            <a:endParaRPr lang="en-US" sz="2000" dirty="0"/>
          </a:p>
        </p:txBody>
      </p:sp>
      <p:sp>
        <p:nvSpPr>
          <p:cNvPr id="8" name="Shape 6"/>
          <p:cNvSpPr/>
          <p:nvPr/>
        </p:nvSpPr>
        <p:spPr>
          <a:xfrm>
            <a:off x="640080" y="2468880"/>
            <a:ext cx="7772400" cy="45720"/>
          </a:xfrm>
          <a:prstGeom prst="rect">
            <a:avLst/>
          </a:prstGeom>
          <a:solidFill>
            <a:srgbClr val="1E4D7B"/>
          </a:solidFill>
          <a:ln w="12700">
            <a:solidFill>
              <a:srgbClr val="1E4D7B"/>
            </a:solidFill>
            <a:prstDash val="solid"/>
          </a:ln>
        </p:spPr>
      </p:sp>
      <p:sp>
        <p:nvSpPr>
          <p:cNvPr id="9" name="Text 7"/>
          <p:cNvSpPr/>
          <p:nvPr/>
        </p:nvSpPr>
        <p:spPr>
          <a:xfrm>
            <a:off x="640080" y="3383280"/>
            <a:ext cx="7955280" cy="1371600"/>
          </a:xfrm>
          <a:prstGeom prst="rect">
            <a:avLst/>
          </a:prstGeom>
          <a:noFill/>
          <a:ln/>
        </p:spPr>
        <p:txBody>
          <a:bodyPr wrap="square" rtlCol="0" anchor="t"/>
          <a:lstStyle/>
          <a:p>
            <a:pPr marL="0" indent="0">
              <a:buNone/>
            </a:pPr>
            <a:r>
              <a:rPr lang="en-US" sz="1400" b="1" dirty="0">
                <a:solidFill>
                  <a:srgbClr val="7DD3FC"/>
                </a:solidFill>
                <a:latin typeface="Calibri" pitchFamily="34" charset="0"/>
                <a:ea typeface="Calibri" pitchFamily="34" charset="-122"/>
                <a:cs typeface="Calibri" pitchFamily="34" charset="-120"/>
              </a:rPr>
              <a:t>Course: </a:t>
            </a:r>
            <a:r>
              <a:rPr lang="en-US" sz="1400" dirty="0">
                <a:solidFill>
                  <a:srgbClr val="CBD5E1"/>
                </a:solidFill>
                <a:latin typeface="Calibri" pitchFamily="34" charset="0"/>
                <a:ea typeface="Calibri" pitchFamily="34" charset="-122"/>
                <a:cs typeface="Calibri" pitchFamily="34" charset="-120"/>
              </a:rPr>
              <a:t>Artificial Intelligence (CS-602)</a:t>
            </a:r>
            <a:r>
              <a:rPr lang="en-US" sz="1400" dirty="0">
                <a:solidFill>
                  <a:srgbClr val="000000"/>
                </a:solidFill>
                <a:latin typeface="Calibri" pitchFamily="34" charset="0"/>
                <a:ea typeface="Calibri" pitchFamily="34" charset="-122"/>
                <a:cs typeface="Calibri" pitchFamily="34" charset="-120"/>
              </a:rPr>
              <a:t>
</a:t>
            </a:r>
            <a:r>
              <a:rPr lang="en-US" sz="1400" b="1" dirty="0">
                <a:solidFill>
                  <a:srgbClr val="7DD3FC"/>
                </a:solidFill>
                <a:latin typeface="Calibri" pitchFamily="34" charset="0"/>
                <a:ea typeface="Calibri" pitchFamily="34" charset="-122"/>
                <a:cs typeface="Calibri" pitchFamily="34" charset="-120"/>
              </a:rPr>
              <a:t>Submitted By: </a:t>
            </a:r>
            <a:r>
              <a:rPr lang="en-US" sz="1400" dirty="0">
                <a:solidFill>
                  <a:srgbClr val="CBD5E1"/>
                </a:solidFill>
                <a:latin typeface="Calibri" pitchFamily="34" charset="0"/>
                <a:ea typeface="Calibri" pitchFamily="34" charset="-122"/>
                <a:cs typeface="Calibri" pitchFamily="34" charset="-120"/>
              </a:rPr>
              <a:t>Majid Iqbal  ·  Rameez Akhtar</a:t>
            </a:r>
            <a:r>
              <a:rPr lang="en-US" sz="1400" dirty="0">
                <a:solidFill>
                  <a:srgbClr val="000000"/>
                </a:solidFill>
                <a:latin typeface="Calibri" pitchFamily="34" charset="0"/>
                <a:ea typeface="Calibri" pitchFamily="34" charset="-122"/>
                <a:cs typeface="Calibri" pitchFamily="34" charset="-120"/>
              </a:rPr>
              <a:t>
</a:t>
            </a:r>
            <a:r>
              <a:rPr lang="en-US" sz="1400" b="1" dirty="0">
                <a:solidFill>
                  <a:srgbClr val="7DD3FC"/>
                </a:solidFill>
                <a:latin typeface="Calibri" pitchFamily="34" charset="0"/>
                <a:ea typeface="Calibri" pitchFamily="34" charset="-122"/>
                <a:cs typeface="Calibri" pitchFamily="34" charset="-120"/>
              </a:rPr>
              <a:t>Submitted To: </a:t>
            </a:r>
            <a:r>
              <a:rPr lang="en-US" sz="1400" dirty="0">
                <a:solidFill>
                  <a:srgbClr val="CBD5E1"/>
                </a:solidFill>
                <a:latin typeface="Calibri" pitchFamily="34" charset="0"/>
                <a:ea typeface="Calibri" pitchFamily="34" charset="-122"/>
                <a:cs typeface="Calibri" pitchFamily="34" charset="-120"/>
              </a:rPr>
              <a:t>Faisal Hafeez </a:t>
            </a:r>
          </a:p>
          <a:p>
            <a:pPr marL="0" indent="0">
              <a:buNone/>
            </a:pPr>
            <a:r>
              <a:rPr lang="en-US" sz="1400" dirty="0">
                <a:solidFill>
                  <a:srgbClr val="CBD5E1"/>
                </a:solidFill>
                <a:latin typeface="Calibri" pitchFamily="34" charset="0"/>
                <a:ea typeface="Calibri" pitchFamily="34" charset="-122"/>
                <a:cs typeface="Calibri" pitchFamily="34" charset="-120"/>
              </a:rPr>
              <a:t>University of Layyah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560320" cy="5143500"/>
          </a:xfrm>
          <a:prstGeom prst="rect">
            <a:avLst/>
          </a:prstGeom>
          <a:solidFill>
            <a:srgbClr val="0D1B2A"/>
          </a:solidFill>
          <a:ln w="12700">
            <a:solidFill>
              <a:srgbClr val="0D1B2A"/>
            </a:solidFill>
            <a:prstDash val="solid"/>
          </a:ln>
        </p:spPr>
      </p:sp>
      <p:sp>
        <p:nvSpPr>
          <p:cNvPr id="3" name="Text 1"/>
          <p:cNvSpPr/>
          <p:nvPr/>
        </p:nvSpPr>
        <p:spPr>
          <a:xfrm>
            <a:off x="0" y="2194560"/>
            <a:ext cx="2560320" cy="640080"/>
          </a:xfrm>
          <a:prstGeom prst="rect">
            <a:avLst/>
          </a:prstGeom>
          <a:noFill/>
          <a:ln/>
        </p:spPr>
        <p:txBody>
          <a:bodyPr wrap="square" rtlCol="0" anchor="ctr"/>
          <a:lstStyle/>
          <a:p>
            <a:pPr marL="0" indent="0" algn="ctr">
              <a:buNone/>
            </a:pPr>
            <a:r>
              <a:rPr lang="en-US" sz="2400" b="1" kern="0" spc="400" dirty="0">
                <a:solidFill>
                  <a:srgbClr val="FFFFFF"/>
                </a:solidFill>
                <a:latin typeface="Calibri" pitchFamily="34" charset="0"/>
                <a:ea typeface="Calibri" pitchFamily="34" charset="-122"/>
                <a:cs typeface="Calibri" pitchFamily="34" charset="-120"/>
              </a:rPr>
              <a:t>AGENDA</a:t>
            </a:r>
            <a:endParaRPr lang="en-US" sz="2400" dirty="0"/>
          </a:p>
        </p:txBody>
      </p:sp>
      <p:sp>
        <p:nvSpPr>
          <p:cNvPr id="4" name="Shape 2"/>
          <p:cNvSpPr/>
          <p:nvPr/>
        </p:nvSpPr>
        <p:spPr>
          <a:xfrm>
            <a:off x="365760" y="2880360"/>
            <a:ext cx="1828800" cy="45720"/>
          </a:xfrm>
          <a:prstGeom prst="rect">
            <a:avLst/>
          </a:prstGeom>
          <a:solidFill>
            <a:srgbClr val="0891B2"/>
          </a:solidFill>
          <a:ln w="12700">
            <a:solidFill>
              <a:srgbClr val="0891B2"/>
            </a:solidFill>
            <a:prstDash val="solid"/>
          </a:ln>
        </p:spPr>
      </p:sp>
      <p:sp>
        <p:nvSpPr>
          <p:cNvPr id="5" name="Shape 3"/>
          <p:cNvSpPr/>
          <p:nvPr/>
        </p:nvSpPr>
        <p:spPr>
          <a:xfrm>
            <a:off x="2834640" y="411480"/>
            <a:ext cx="365760" cy="365760"/>
          </a:xfrm>
          <a:prstGeom prst="rect">
            <a:avLst/>
          </a:prstGeom>
          <a:solidFill>
            <a:srgbClr val="0891B2"/>
          </a:solidFill>
          <a:ln w="12700">
            <a:solidFill>
              <a:srgbClr val="0891B2"/>
            </a:solidFill>
            <a:prstDash val="solid"/>
          </a:ln>
        </p:spPr>
      </p:sp>
      <p:sp>
        <p:nvSpPr>
          <p:cNvPr id="6" name="Text 4"/>
          <p:cNvSpPr/>
          <p:nvPr/>
        </p:nvSpPr>
        <p:spPr>
          <a:xfrm>
            <a:off x="2834640" y="41148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3337560" y="365760"/>
            <a:ext cx="5303520" cy="475488"/>
          </a:xfrm>
          <a:prstGeom prst="rect">
            <a:avLst/>
          </a:prstGeom>
          <a:noFill/>
          <a:ln/>
        </p:spPr>
        <p:txBody>
          <a:bodyPr wrap="square"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Problem Statement</a:t>
            </a:r>
            <a:endParaRPr lang="en-US" sz="1600" dirty="0"/>
          </a:p>
        </p:txBody>
      </p:sp>
      <p:sp>
        <p:nvSpPr>
          <p:cNvPr id="8" name="Shape 6"/>
          <p:cNvSpPr/>
          <p:nvPr/>
        </p:nvSpPr>
        <p:spPr>
          <a:xfrm>
            <a:off x="2834640" y="841248"/>
            <a:ext cx="5806440" cy="18288"/>
          </a:xfrm>
          <a:prstGeom prst="rect">
            <a:avLst/>
          </a:prstGeom>
          <a:solidFill>
            <a:srgbClr val="E2E8F0"/>
          </a:solidFill>
          <a:ln w="12700">
            <a:solidFill>
              <a:srgbClr val="E2E8F0"/>
            </a:solidFill>
            <a:prstDash val="solid"/>
          </a:ln>
        </p:spPr>
      </p:sp>
      <p:sp>
        <p:nvSpPr>
          <p:cNvPr id="9" name="Shape 7"/>
          <p:cNvSpPr/>
          <p:nvPr/>
        </p:nvSpPr>
        <p:spPr>
          <a:xfrm>
            <a:off x="2834640" y="992124"/>
            <a:ext cx="365760" cy="365760"/>
          </a:xfrm>
          <a:prstGeom prst="rect">
            <a:avLst/>
          </a:prstGeom>
          <a:solidFill>
            <a:srgbClr val="0891B2"/>
          </a:solidFill>
          <a:ln w="12700">
            <a:solidFill>
              <a:srgbClr val="0891B2"/>
            </a:solidFill>
            <a:prstDash val="solid"/>
          </a:ln>
        </p:spPr>
      </p:sp>
      <p:sp>
        <p:nvSpPr>
          <p:cNvPr id="10" name="Text 8"/>
          <p:cNvSpPr/>
          <p:nvPr/>
        </p:nvSpPr>
        <p:spPr>
          <a:xfrm>
            <a:off x="2834640" y="992124"/>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1" name="Text 9"/>
          <p:cNvSpPr/>
          <p:nvPr/>
        </p:nvSpPr>
        <p:spPr>
          <a:xfrm>
            <a:off x="3337560" y="946404"/>
            <a:ext cx="5303520" cy="475488"/>
          </a:xfrm>
          <a:prstGeom prst="rect">
            <a:avLst/>
          </a:prstGeom>
          <a:noFill/>
          <a:ln/>
        </p:spPr>
        <p:txBody>
          <a:bodyPr wrap="square" rtlCol="0" anchor="ctr"/>
          <a:lstStyle/>
          <a:p>
            <a:pPr marL="0" indent="0">
              <a:buNone/>
            </a:pPr>
            <a:r>
              <a:rPr lang="en-US" sz="1600" dirty="0">
                <a:solidFill>
                  <a:srgbClr val="475569"/>
                </a:solidFill>
                <a:latin typeface="Calibri" pitchFamily="34" charset="0"/>
                <a:ea typeface="Calibri" pitchFamily="34" charset="-122"/>
                <a:cs typeface="Calibri" pitchFamily="34" charset="-120"/>
              </a:rPr>
              <a:t>Our Solution</a:t>
            </a:r>
            <a:endParaRPr lang="en-US" sz="1600" dirty="0"/>
          </a:p>
        </p:txBody>
      </p:sp>
      <p:sp>
        <p:nvSpPr>
          <p:cNvPr id="12" name="Shape 10"/>
          <p:cNvSpPr/>
          <p:nvPr/>
        </p:nvSpPr>
        <p:spPr>
          <a:xfrm>
            <a:off x="2834640" y="1421892"/>
            <a:ext cx="5806440" cy="18288"/>
          </a:xfrm>
          <a:prstGeom prst="rect">
            <a:avLst/>
          </a:prstGeom>
          <a:solidFill>
            <a:srgbClr val="E2E8F0"/>
          </a:solidFill>
          <a:ln w="12700">
            <a:solidFill>
              <a:srgbClr val="E2E8F0"/>
            </a:solidFill>
            <a:prstDash val="solid"/>
          </a:ln>
        </p:spPr>
      </p:sp>
      <p:sp>
        <p:nvSpPr>
          <p:cNvPr id="13" name="Shape 11"/>
          <p:cNvSpPr/>
          <p:nvPr/>
        </p:nvSpPr>
        <p:spPr>
          <a:xfrm>
            <a:off x="2834640" y="1572768"/>
            <a:ext cx="365760" cy="365760"/>
          </a:xfrm>
          <a:prstGeom prst="rect">
            <a:avLst/>
          </a:prstGeom>
          <a:solidFill>
            <a:srgbClr val="0891B2"/>
          </a:solidFill>
          <a:ln w="12700">
            <a:solidFill>
              <a:srgbClr val="0891B2"/>
            </a:solidFill>
            <a:prstDash val="solid"/>
          </a:ln>
        </p:spPr>
      </p:sp>
      <p:sp>
        <p:nvSpPr>
          <p:cNvPr id="14" name="Text 12"/>
          <p:cNvSpPr/>
          <p:nvPr/>
        </p:nvSpPr>
        <p:spPr>
          <a:xfrm>
            <a:off x="2834640" y="157276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5" name="Text 13"/>
          <p:cNvSpPr/>
          <p:nvPr/>
        </p:nvSpPr>
        <p:spPr>
          <a:xfrm>
            <a:off x="3337560" y="1527048"/>
            <a:ext cx="5303520" cy="475488"/>
          </a:xfrm>
          <a:prstGeom prst="rect">
            <a:avLst/>
          </a:prstGeom>
          <a:noFill/>
          <a:ln/>
        </p:spPr>
        <p:txBody>
          <a:bodyPr wrap="square"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Key Features</a:t>
            </a:r>
            <a:endParaRPr lang="en-US" sz="1600" dirty="0"/>
          </a:p>
        </p:txBody>
      </p:sp>
      <p:sp>
        <p:nvSpPr>
          <p:cNvPr id="16" name="Shape 14"/>
          <p:cNvSpPr/>
          <p:nvPr/>
        </p:nvSpPr>
        <p:spPr>
          <a:xfrm>
            <a:off x="2834640" y="2002536"/>
            <a:ext cx="5806440" cy="18288"/>
          </a:xfrm>
          <a:prstGeom prst="rect">
            <a:avLst/>
          </a:prstGeom>
          <a:solidFill>
            <a:srgbClr val="E2E8F0"/>
          </a:solidFill>
          <a:ln w="12700">
            <a:solidFill>
              <a:srgbClr val="E2E8F0"/>
            </a:solidFill>
            <a:prstDash val="solid"/>
          </a:ln>
        </p:spPr>
      </p:sp>
      <p:sp>
        <p:nvSpPr>
          <p:cNvPr id="17" name="Shape 15"/>
          <p:cNvSpPr/>
          <p:nvPr/>
        </p:nvSpPr>
        <p:spPr>
          <a:xfrm>
            <a:off x="2834640" y="2153412"/>
            <a:ext cx="365760" cy="365760"/>
          </a:xfrm>
          <a:prstGeom prst="rect">
            <a:avLst/>
          </a:prstGeom>
          <a:solidFill>
            <a:srgbClr val="0891B2"/>
          </a:solidFill>
          <a:ln w="12700">
            <a:solidFill>
              <a:srgbClr val="0891B2"/>
            </a:solidFill>
            <a:prstDash val="solid"/>
          </a:ln>
        </p:spPr>
      </p:sp>
      <p:sp>
        <p:nvSpPr>
          <p:cNvPr id="18" name="Text 16"/>
          <p:cNvSpPr/>
          <p:nvPr/>
        </p:nvSpPr>
        <p:spPr>
          <a:xfrm>
            <a:off x="2834640" y="2153412"/>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9" name="Text 17"/>
          <p:cNvSpPr/>
          <p:nvPr/>
        </p:nvSpPr>
        <p:spPr>
          <a:xfrm>
            <a:off x="3337560" y="2107692"/>
            <a:ext cx="5303520" cy="475488"/>
          </a:xfrm>
          <a:prstGeom prst="rect">
            <a:avLst/>
          </a:prstGeom>
          <a:noFill/>
          <a:ln/>
        </p:spPr>
        <p:txBody>
          <a:bodyPr wrap="square" rtlCol="0" anchor="ctr"/>
          <a:lstStyle/>
          <a:p>
            <a:pPr marL="0" indent="0">
              <a:buNone/>
            </a:pPr>
            <a:r>
              <a:rPr lang="en-US" sz="1600" dirty="0">
                <a:solidFill>
                  <a:srgbClr val="475569"/>
                </a:solidFill>
                <a:latin typeface="Calibri" pitchFamily="34" charset="0"/>
                <a:ea typeface="Calibri" pitchFamily="34" charset="-122"/>
                <a:cs typeface="Calibri" pitchFamily="34" charset="-120"/>
              </a:rPr>
              <a:t>ML Prediction Model</a:t>
            </a:r>
            <a:endParaRPr lang="en-US" sz="1600" dirty="0"/>
          </a:p>
        </p:txBody>
      </p:sp>
      <p:sp>
        <p:nvSpPr>
          <p:cNvPr id="20" name="Shape 18"/>
          <p:cNvSpPr/>
          <p:nvPr/>
        </p:nvSpPr>
        <p:spPr>
          <a:xfrm>
            <a:off x="2834640" y="2583180"/>
            <a:ext cx="5806440" cy="18288"/>
          </a:xfrm>
          <a:prstGeom prst="rect">
            <a:avLst/>
          </a:prstGeom>
          <a:solidFill>
            <a:srgbClr val="E2E8F0"/>
          </a:solidFill>
          <a:ln w="12700">
            <a:solidFill>
              <a:srgbClr val="E2E8F0"/>
            </a:solidFill>
            <a:prstDash val="solid"/>
          </a:ln>
        </p:spPr>
      </p:sp>
      <p:sp>
        <p:nvSpPr>
          <p:cNvPr id="21" name="Shape 19"/>
          <p:cNvSpPr/>
          <p:nvPr/>
        </p:nvSpPr>
        <p:spPr>
          <a:xfrm>
            <a:off x="2834640" y="2734056"/>
            <a:ext cx="365760" cy="365760"/>
          </a:xfrm>
          <a:prstGeom prst="rect">
            <a:avLst/>
          </a:prstGeom>
          <a:solidFill>
            <a:srgbClr val="0891B2"/>
          </a:solidFill>
          <a:ln w="12700">
            <a:solidFill>
              <a:srgbClr val="0891B2"/>
            </a:solidFill>
            <a:prstDash val="solid"/>
          </a:ln>
        </p:spPr>
      </p:sp>
      <p:sp>
        <p:nvSpPr>
          <p:cNvPr id="22" name="Text 20"/>
          <p:cNvSpPr/>
          <p:nvPr/>
        </p:nvSpPr>
        <p:spPr>
          <a:xfrm>
            <a:off x="2834640" y="2734056"/>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3" name="Text 21"/>
          <p:cNvSpPr/>
          <p:nvPr/>
        </p:nvSpPr>
        <p:spPr>
          <a:xfrm>
            <a:off x="3337560" y="2688336"/>
            <a:ext cx="5303520" cy="475488"/>
          </a:xfrm>
          <a:prstGeom prst="rect">
            <a:avLst/>
          </a:prstGeom>
          <a:noFill/>
          <a:ln/>
        </p:spPr>
        <p:txBody>
          <a:bodyPr wrap="square"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Bank Policy RAG Engine</a:t>
            </a:r>
            <a:endParaRPr lang="en-US" sz="1600" dirty="0"/>
          </a:p>
        </p:txBody>
      </p:sp>
      <p:sp>
        <p:nvSpPr>
          <p:cNvPr id="24" name="Shape 22"/>
          <p:cNvSpPr/>
          <p:nvPr/>
        </p:nvSpPr>
        <p:spPr>
          <a:xfrm>
            <a:off x="2834640" y="3163824"/>
            <a:ext cx="5806440" cy="18288"/>
          </a:xfrm>
          <a:prstGeom prst="rect">
            <a:avLst/>
          </a:prstGeom>
          <a:solidFill>
            <a:srgbClr val="E2E8F0"/>
          </a:solidFill>
          <a:ln w="12700">
            <a:solidFill>
              <a:srgbClr val="E2E8F0"/>
            </a:solidFill>
            <a:prstDash val="solid"/>
          </a:ln>
        </p:spPr>
      </p:sp>
      <p:sp>
        <p:nvSpPr>
          <p:cNvPr id="25" name="Shape 23"/>
          <p:cNvSpPr/>
          <p:nvPr/>
        </p:nvSpPr>
        <p:spPr>
          <a:xfrm>
            <a:off x="2834640" y="3314700"/>
            <a:ext cx="365760" cy="365760"/>
          </a:xfrm>
          <a:prstGeom prst="rect">
            <a:avLst/>
          </a:prstGeom>
          <a:solidFill>
            <a:srgbClr val="0891B2"/>
          </a:solidFill>
          <a:ln w="12700">
            <a:solidFill>
              <a:srgbClr val="0891B2"/>
            </a:solidFill>
            <a:prstDash val="solid"/>
          </a:ln>
        </p:spPr>
      </p:sp>
      <p:sp>
        <p:nvSpPr>
          <p:cNvPr id="26" name="Text 24"/>
          <p:cNvSpPr/>
          <p:nvPr/>
        </p:nvSpPr>
        <p:spPr>
          <a:xfrm>
            <a:off x="2834640" y="3314700"/>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27" name="Text 25"/>
          <p:cNvSpPr/>
          <p:nvPr/>
        </p:nvSpPr>
        <p:spPr>
          <a:xfrm>
            <a:off x="3337560" y="3268980"/>
            <a:ext cx="5303520" cy="475488"/>
          </a:xfrm>
          <a:prstGeom prst="rect">
            <a:avLst/>
          </a:prstGeom>
          <a:noFill/>
          <a:ln/>
        </p:spPr>
        <p:txBody>
          <a:bodyPr wrap="square" rtlCol="0" anchor="ctr"/>
          <a:lstStyle/>
          <a:p>
            <a:pPr marL="0" indent="0">
              <a:buNone/>
            </a:pPr>
            <a:r>
              <a:rPr lang="en-US" sz="1600" dirty="0">
                <a:solidFill>
                  <a:srgbClr val="475569"/>
                </a:solidFill>
                <a:latin typeface="Calibri" pitchFamily="34" charset="0"/>
                <a:ea typeface="Calibri" pitchFamily="34" charset="-122"/>
                <a:cs typeface="Calibri" pitchFamily="34" charset="-120"/>
              </a:rPr>
              <a:t>Chatbot Design</a:t>
            </a:r>
            <a:endParaRPr lang="en-US" sz="1600" dirty="0"/>
          </a:p>
        </p:txBody>
      </p:sp>
      <p:sp>
        <p:nvSpPr>
          <p:cNvPr id="28" name="Shape 26"/>
          <p:cNvSpPr/>
          <p:nvPr/>
        </p:nvSpPr>
        <p:spPr>
          <a:xfrm>
            <a:off x="2834640" y="3744468"/>
            <a:ext cx="5806440" cy="18288"/>
          </a:xfrm>
          <a:prstGeom prst="rect">
            <a:avLst/>
          </a:prstGeom>
          <a:solidFill>
            <a:srgbClr val="E2E8F0"/>
          </a:solidFill>
          <a:ln w="12700">
            <a:solidFill>
              <a:srgbClr val="E2E8F0"/>
            </a:solidFill>
            <a:prstDash val="solid"/>
          </a:ln>
        </p:spPr>
      </p:sp>
      <p:sp>
        <p:nvSpPr>
          <p:cNvPr id="29" name="Shape 27"/>
          <p:cNvSpPr/>
          <p:nvPr/>
        </p:nvSpPr>
        <p:spPr>
          <a:xfrm>
            <a:off x="2834640" y="3895344"/>
            <a:ext cx="365760" cy="365760"/>
          </a:xfrm>
          <a:prstGeom prst="rect">
            <a:avLst/>
          </a:prstGeom>
          <a:solidFill>
            <a:srgbClr val="0891B2"/>
          </a:solidFill>
          <a:ln w="12700">
            <a:solidFill>
              <a:srgbClr val="0891B2"/>
            </a:solidFill>
            <a:prstDash val="solid"/>
          </a:ln>
        </p:spPr>
      </p:sp>
      <p:sp>
        <p:nvSpPr>
          <p:cNvPr id="30" name="Text 28"/>
          <p:cNvSpPr/>
          <p:nvPr/>
        </p:nvSpPr>
        <p:spPr>
          <a:xfrm>
            <a:off x="2834640" y="3895344"/>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1" name="Text 29"/>
          <p:cNvSpPr/>
          <p:nvPr/>
        </p:nvSpPr>
        <p:spPr>
          <a:xfrm>
            <a:off x="3337560" y="3849624"/>
            <a:ext cx="5303520" cy="475488"/>
          </a:xfrm>
          <a:prstGeom prst="rect">
            <a:avLst/>
          </a:prstGeom>
          <a:noFill/>
          <a:ln/>
        </p:spPr>
        <p:txBody>
          <a:bodyPr wrap="square"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Technology Stack</a:t>
            </a:r>
            <a:endParaRPr lang="en-US" sz="1600" dirty="0"/>
          </a:p>
        </p:txBody>
      </p:sp>
      <p:sp>
        <p:nvSpPr>
          <p:cNvPr id="32" name="Shape 30"/>
          <p:cNvSpPr/>
          <p:nvPr/>
        </p:nvSpPr>
        <p:spPr>
          <a:xfrm>
            <a:off x="2834640" y="4325112"/>
            <a:ext cx="5806440" cy="18288"/>
          </a:xfrm>
          <a:prstGeom prst="rect">
            <a:avLst/>
          </a:prstGeom>
          <a:solidFill>
            <a:srgbClr val="E2E8F0"/>
          </a:solidFill>
          <a:ln w="12700">
            <a:solidFill>
              <a:srgbClr val="E2E8F0"/>
            </a:solidFill>
            <a:prstDash val="solid"/>
          </a:ln>
        </p:spPr>
      </p:sp>
      <p:sp>
        <p:nvSpPr>
          <p:cNvPr id="33" name="Shape 31"/>
          <p:cNvSpPr/>
          <p:nvPr/>
        </p:nvSpPr>
        <p:spPr>
          <a:xfrm>
            <a:off x="2834640" y="4475988"/>
            <a:ext cx="365760" cy="365760"/>
          </a:xfrm>
          <a:prstGeom prst="rect">
            <a:avLst/>
          </a:prstGeom>
          <a:solidFill>
            <a:srgbClr val="0891B2"/>
          </a:solidFill>
          <a:ln w="12700">
            <a:solidFill>
              <a:srgbClr val="0891B2"/>
            </a:solidFill>
            <a:prstDash val="solid"/>
          </a:ln>
        </p:spPr>
      </p:sp>
      <p:sp>
        <p:nvSpPr>
          <p:cNvPr id="34" name="Text 32"/>
          <p:cNvSpPr/>
          <p:nvPr/>
        </p:nvSpPr>
        <p:spPr>
          <a:xfrm>
            <a:off x="2834640" y="4475988"/>
            <a:ext cx="36576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35" name="Text 33"/>
          <p:cNvSpPr/>
          <p:nvPr/>
        </p:nvSpPr>
        <p:spPr>
          <a:xfrm>
            <a:off x="3337560" y="4430268"/>
            <a:ext cx="5303520" cy="475488"/>
          </a:xfrm>
          <a:prstGeom prst="rect">
            <a:avLst/>
          </a:prstGeom>
          <a:noFill/>
          <a:ln/>
        </p:spPr>
        <p:txBody>
          <a:bodyPr wrap="square" rtlCol="0" anchor="ctr"/>
          <a:lstStyle/>
          <a:p>
            <a:pPr marL="0" indent="0">
              <a:buNone/>
            </a:pPr>
            <a:r>
              <a:rPr lang="en-US" sz="1600" dirty="0">
                <a:solidFill>
                  <a:srgbClr val="475569"/>
                </a:solidFill>
                <a:latin typeface="Calibri" pitchFamily="34" charset="0"/>
                <a:ea typeface="Calibri" pitchFamily="34" charset="-122"/>
                <a:cs typeface="Calibri" pitchFamily="34" charset="-120"/>
              </a:rPr>
              <a:t>Expected Results &amp; Conclusion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Problem Statement</a:t>
            </a:r>
            <a:endParaRPr lang="en-US" sz="3000" dirty="0"/>
          </a:p>
        </p:txBody>
      </p:sp>
      <p:sp>
        <p:nvSpPr>
          <p:cNvPr id="4" name="Shape 2"/>
          <p:cNvSpPr/>
          <p:nvPr/>
        </p:nvSpPr>
        <p:spPr>
          <a:xfrm>
            <a:off x="365760" y="1005840"/>
            <a:ext cx="2606040" cy="1417320"/>
          </a:xfrm>
          <a:prstGeom prst="rect">
            <a:avLst/>
          </a:prstGeom>
          <a:solidFill>
            <a:srgbClr val="0D1B2A"/>
          </a:solidFill>
          <a:ln w="12700">
            <a:solidFill>
              <a:srgbClr val="0891B2"/>
            </a:solidFill>
            <a:prstDash val="solid"/>
          </a:ln>
          <a:effectLst>
            <a:outerShdw blurRad="63500" dist="25400" dir="8100000" algn="bl" rotWithShape="0">
              <a:srgbClr val="000000">
                <a:alpha val="12000"/>
              </a:srgbClr>
            </a:outerShdw>
          </a:effectLst>
        </p:spPr>
      </p:sp>
      <p:sp>
        <p:nvSpPr>
          <p:cNvPr id="5" name="Text 3"/>
          <p:cNvSpPr/>
          <p:nvPr/>
        </p:nvSpPr>
        <p:spPr>
          <a:xfrm>
            <a:off x="365760" y="1051560"/>
            <a:ext cx="2606040" cy="685800"/>
          </a:xfrm>
          <a:prstGeom prst="rect">
            <a:avLst/>
          </a:prstGeom>
          <a:noFill/>
          <a:ln/>
        </p:spPr>
        <p:txBody>
          <a:bodyPr wrap="square" rtlCol="0" anchor="b"/>
          <a:lstStyle/>
          <a:p>
            <a:pPr marL="0" indent="0" algn="ctr">
              <a:buNone/>
            </a:pPr>
            <a:r>
              <a:rPr lang="en-US" sz="3400" b="1" dirty="0">
                <a:solidFill>
                  <a:srgbClr val="0891B2"/>
                </a:solidFill>
                <a:latin typeface="Calibri" pitchFamily="34" charset="0"/>
                <a:ea typeface="Calibri" pitchFamily="34" charset="-122"/>
                <a:cs typeface="Calibri" pitchFamily="34" charset="-120"/>
              </a:rPr>
              <a:t>60%</a:t>
            </a:r>
            <a:endParaRPr lang="en-US" sz="3400" dirty="0"/>
          </a:p>
        </p:txBody>
      </p:sp>
      <p:sp>
        <p:nvSpPr>
          <p:cNvPr id="6" name="Text 4"/>
          <p:cNvSpPr/>
          <p:nvPr/>
        </p:nvSpPr>
        <p:spPr>
          <a:xfrm>
            <a:off x="365760" y="1737360"/>
            <a:ext cx="2606040" cy="640080"/>
          </a:xfrm>
          <a:prstGeom prst="rect">
            <a:avLst/>
          </a:prstGeom>
          <a:noFill/>
          <a:ln/>
        </p:spPr>
        <p:txBody>
          <a:bodyPr wrap="square" rtlCol="0" anchor="t"/>
          <a:lstStyle/>
          <a:p>
            <a:pPr marL="0" indent="0" algn="ctr">
              <a:buNone/>
            </a:pPr>
            <a:r>
              <a:rPr lang="en-US" sz="1000" dirty="0">
                <a:solidFill>
                  <a:srgbClr val="CBD5E1"/>
                </a:solidFill>
                <a:latin typeface="Calibri" pitchFamily="34" charset="0"/>
                <a:ea typeface="Calibri" pitchFamily="34" charset="-122"/>
                <a:cs typeface="Calibri" pitchFamily="34" charset="-120"/>
              </a:rPr>
              <a:t>Loan applications</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rejected annually</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due to poor prep</a:t>
            </a:r>
            <a:endParaRPr lang="en-US" sz="1000" dirty="0"/>
          </a:p>
        </p:txBody>
      </p:sp>
      <p:sp>
        <p:nvSpPr>
          <p:cNvPr id="7" name="Shape 5"/>
          <p:cNvSpPr/>
          <p:nvPr/>
        </p:nvSpPr>
        <p:spPr>
          <a:xfrm>
            <a:off x="3200400" y="1005840"/>
            <a:ext cx="2606040" cy="1417320"/>
          </a:xfrm>
          <a:prstGeom prst="rect">
            <a:avLst/>
          </a:prstGeom>
          <a:solidFill>
            <a:srgbClr val="0D1B2A"/>
          </a:solidFill>
          <a:ln w="12700">
            <a:solidFill>
              <a:srgbClr val="0891B2"/>
            </a:solidFill>
            <a:prstDash val="solid"/>
          </a:ln>
          <a:effectLst>
            <a:outerShdw blurRad="63500" dist="25400" dir="8100000" algn="bl" rotWithShape="0">
              <a:srgbClr val="000000">
                <a:alpha val="12000"/>
              </a:srgbClr>
            </a:outerShdw>
          </a:effectLst>
        </p:spPr>
      </p:sp>
      <p:sp>
        <p:nvSpPr>
          <p:cNvPr id="8" name="Text 6"/>
          <p:cNvSpPr/>
          <p:nvPr/>
        </p:nvSpPr>
        <p:spPr>
          <a:xfrm>
            <a:off x="3200400" y="1051560"/>
            <a:ext cx="2606040" cy="685800"/>
          </a:xfrm>
          <a:prstGeom prst="rect">
            <a:avLst/>
          </a:prstGeom>
          <a:noFill/>
          <a:ln/>
        </p:spPr>
        <p:txBody>
          <a:bodyPr wrap="square" rtlCol="0" anchor="b"/>
          <a:lstStyle/>
          <a:p>
            <a:pPr marL="0" indent="0" algn="ctr">
              <a:buNone/>
            </a:pPr>
            <a:r>
              <a:rPr lang="en-US" sz="3400" b="1" dirty="0">
                <a:solidFill>
                  <a:srgbClr val="0891B2"/>
                </a:solidFill>
                <a:latin typeface="Calibri" pitchFamily="34" charset="0"/>
                <a:ea typeface="Calibri" pitchFamily="34" charset="-122"/>
                <a:cs typeface="Calibri" pitchFamily="34" charset="-120"/>
              </a:rPr>
              <a:t>3+hrs</a:t>
            </a:r>
            <a:endParaRPr lang="en-US" sz="3400" dirty="0"/>
          </a:p>
        </p:txBody>
      </p:sp>
      <p:sp>
        <p:nvSpPr>
          <p:cNvPr id="9" name="Text 7"/>
          <p:cNvSpPr/>
          <p:nvPr/>
        </p:nvSpPr>
        <p:spPr>
          <a:xfrm>
            <a:off x="3200400" y="1737360"/>
            <a:ext cx="2606040" cy="640080"/>
          </a:xfrm>
          <a:prstGeom prst="rect">
            <a:avLst/>
          </a:prstGeom>
          <a:noFill/>
          <a:ln/>
        </p:spPr>
        <p:txBody>
          <a:bodyPr wrap="square" rtlCol="0" anchor="t"/>
          <a:lstStyle/>
          <a:p>
            <a:pPr marL="0" indent="0" algn="ctr">
              <a:buNone/>
            </a:pPr>
            <a:r>
              <a:rPr lang="en-US" sz="1000" dirty="0">
                <a:solidFill>
                  <a:srgbClr val="CBD5E1"/>
                </a:solidFill>
                <a:latin typeface="Calibri" pitchFamily="34" charset="0"/>
                <a:ea typeface="Calibri" pitchFamily="34" charset="-122"/>
                <a:cs typeface="Calibri" pitchFamily="34" charset="-120"/>
              </a:rPr>
              <a:t>Wasted checking</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eligibility manually</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across banks</a:t>
            </a:r>
            <a:endParaRPr lang="en-US" sz="1000" dirty="0"/>
          </a:p>
        </p:txBody>
      </p:sp>
      <p:sp>
        <p:nvSpPr>
          <p:cNvPr id="10" name="Shape 8"/>
          <p:cNvSpPr/>
          <p:nvPr/>
        </p:nvSpPr>
        <p:spPr>
          <a:xfrm>
            <a:off x="6035040" y="1005840"/>
            <a:ext cx="2606040" cy="1417320"/>
          </a:xfrm>
          <a:prstGeom prst="rect">
            <a:avLst/>
          </a:prstGeom>
          <a:solidFill>
            <a:srgbClr val="0D1B2A"/>
          </a:solidFill>
          <a:ln w="12700">
            <a:solidFill>
              <a:srgbClr val="0891B2"/>
            </a:solidFill>
            <a:prstDash val="solid"/>
          </a:ln>
          <a:effectLst>
            <a:outerShdw blurRad="63500" dist="25400" dir="8100000" algn="bl" rotWithShape="0">
              <a:srgbClr val="000000">
                <a:alpha val="12000"/>
              </a:srgbClr>
            </a:outerShdw>
          </a:effectLst>
        </p:spPr>
      </p:sp>
      <p:sp>
        <p:nvSpPr>
          <p:cNvPr id="11" name="Text 9"/>
          <p:cNvSpPr/>
          <p:nvPr/>
        </p:nvSpPr>
        <p:spPr>
          <a:xfrm>
            <a:off x="6035040" y="1051560"/>
            <a:ext cx="2606040" cy="685800"/>
          </a:xfrm>
          <a:prstGeom prst="rect">
            <a:avLst/>
          </a:prstGeom>
          <a:noFill/>
          <a:ln/>
        </p:spPr>
        <p:txBody>
          <a:bodyPr wrap="square" rtlCol="0" anchor="b"/>
          <a:lstStyle/>
          <a:p>
            <a:pPr marL="0" indent="0" algn="ctr">
              <a:buNone/>
            </a:pPr>
            <a:r>
              <a:rPr lang="en-US" sz="3400" b="1" dirty="0">
                <a:solidFill>
                  <a:srgbClr val="0891B2"/>
                </a:solidFill>
                <a:latin typeface="Calibri" pitchFamily="34" charset="0"/>
                <a:ea typeface="Calibri" pitchFamily="34" charset="-122"/>
                <a:cs typeface="Calibri" pitchFamily="34" charset="-120"/>
              </a:rPr>
              <a:t>Zero</a:t>
            </a:r>
            <a:endParaRPr lang="en-US" sz="3400" dirty="0"/>
          </a:p>
        </p:txBody>
      </p:sp>
      <p:sp>
        <p:nvSpPr>
          <p:cNvPr id="12" name="Text 10"/>
          <p:cNvSpPr/>
          <p:nvPr/>
        </p:nvSpPr>
        <p:spPr>
          <a:xfrm>
            <a:off x="6035040" y="1737360"/>
            <a:ext cx="2606040" cy="640080"/>
          </a:xfrm>
          <a:prstGeom prst="rect">
            <a:avLst/>
          </a:prstGeom>
          <a:noFill/>
          <a:ln/>
        </p:spPr>
        <p:txBody>
          <a:bodyPr wrap="square" rtlCol="0" anchor="t"/>
          <a:lstStyle/>
          <a:p>
            <a:pPr marL="0" indent="0" algn="ctr">
              <a:buNone/>
            </a:pPr>
            <a:r>
              <a:rPr lang="en-US" sz="1000" dirty="0">
                <a:solidFill>
                  <a:srgbClr val="CBD5E1"/>
                </a:solidFill>
                <a:latin typeface="Calibri" pitchFamily="34" charset="0"/>
                <a:ea typeface="Calibri" pitchFamily="34" charset="-122"/>
                <a:cs typeface="Calibri" pitchFamily="34" charset="-120"/>
              </a:rPr>
              <a:t>Integrated AI tools</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for Pakistani</a:t>
            </a:r>
            <a:endParaRPr lang="en-US" sz="1000" dirty="0"/>
          </a:p>
          <a:p>
            <a:pPr marL="0" indent="0" algn="ctr">
              <a:buNone/>
            </a:pPr>
            <a:r>
              <a:rPr lang="en-US" sz="1000" dirty="0">
                <a:solidFill>
                  <a:srgbClr val="CBD5E1"/>
                </a:solidFill>
                <a:latin typeface="Calibri" pitchFamily="34" charset="0"/>
                <a:ea typeface="Calibri" pitchFamily="34" charset="-122"/>
                <a:cs typeface="Calibri" pitchFamily="34" charset="-120"/>
              </a:rPr>
              <a:t>loan applicants</a:t>
            </a:r>
            <a:endParaRPr lang="en-US" sz="1000" dirty="0"/>
          </a:p>
        </p:txBody>
      </p:sp>
      <p:sp>
        <p:nvSpPr>
          <p:cNvPr id="13" name="Text 11"/>
          <p:cNvSpPr/>
          <p:nvPr/>
        </p:nvSpPr>
        <p:spPr>
          <a:xfrm>
            <a:off x="365760" y="2560320"/>
            <a:ext cx="8229600" cy="384048"/>
          </a:xfrm>
          <a:prstGeom prst="rect">
            <a:avLst/>
          </a:prstGeom>
          <a:noFill/>
          <a:ln/>
        </p:spPr>
        <p:txBody>
          <a:bodyPr wrap="square"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Key Challenges Users Face:</a:t>
            </a:r>
            <a:endParaRPr lang="en-US" sz="1500" dirty="0"/>
          </a:p>
        </p:txBody>
      </p:sp>
      <p:sp>
        <p:nvSpPr>
          <p:cNvPr id="14" name="Text 12"/>
          <p:cNvSpPr/>
          <p:nvPr/>
        </p:nvSpPr>
        <p:spPr>
          <a:xfrm>
            <a:off x="365760" y="2971800"/>
            <a:ext cx="8412480" cy="1920240"/>
          </a:xfrm>
          <a:prstGeom prst="rect">
            <a:avLst/>
          </a:prstGeom>
          <a:noFill/>
          <a:ln/>
        </p:spPr>
        <p:txBody>
          <a:bodyPr wrap="square" rtlCol="0" anchor="ctr"/>
          <a:lstStyle/>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Complex loan procedures with no personalized guidance or financial education</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Static EMI calculators with no AI-driven analysis or risk detection</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Banks have different policies — impossible to compare them manually</a:t>
            </a:r>
            <a:endParaRPr lang="en-US" sz="1400" dirty="0"/>
          </a:p>
          <a:p>
            <a:pPr marL="342900" indent="-342900">
              <a:buSzPct val="100000"/>
              <a:buChar char="•"/>
            </a:pPr>
            <a:r>
              <a:rPr lang="en-US" sz="1400" dirty="0">
                <a:solidFill>
                  <a:srgbClr val="1E293B"/>
                </a:solidFill>
                <a:latin typeface="Calibri" pitchFamily="34" charset="0"/>
                <a:ea typeface="Calibri" pitchFamily="34" charset="-122"/>
                <a:cs typeface="Calibri" pitchFamily="34" charset="-120"/>
              </a:rPr>
              <a:t>No integrated system combining ML prediction, simulation, chatbot &amp; scoring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68580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Our Solution</a:t>
            </a:r>
            <a:endParaRPr lang="en-US" sz="3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500" i="1" dirty="0">
                <a:solidFill>
                  <a:srgbClr val="7DD3FC"/>
                </a:solidFill>
                <a:latin typeface="Calibri" pitchFamily="34" charset="0"/>
                <a:ea typeface="Calibri" pitchFamily="34" charset="-122"/>
                <a:cs typeface="Calibri" pitchFamily="34" charset="-120"/>
              </a:rPr>
              <a:t>SmartLoan AI — A Complete Web-Based Financial Advisory Platform</a:t>
            </a:r>
            <a:endParaRPr lang="en-US" sz="1500" dirty="0"/>
          </a:p>
        </p:txBody>
      </p:sp>
      <p:sp>
        <p:nvSpPr>
          <p:cNvPr id="4" name="Shape 2"/>
          <p:cNvSpPr/>
          <p:nvPr/>
        </p:nvSpPr>
        <p:spPr>
          <a:xfrm>
            <a:off x="3291840" y="1828800"/>
            <a:ext cx="2560320" cy="914400"/>
          </a:xfrm>
          <a:prstGeom prst="rect">
            <a:avLst/>
          </a:prstGeom>
          <a:solidFill>
            <a:srgbClr val="0891B2"/>
          </a:solidFill>
          <a:ln w="12700">
            <a:solidFill>
              <a:srgbClr val="0E7490"/>
            </a:solidFill>
            <a:prstDash val="solid"/>
          </a:ln>
          <a:effectLst>
            <a:outerShdw blurRad="63500" dist="25400" dir="8100000" algn="bl" rotWithShape="0">
              <a:srgbClr val="000000">
                <a:alpha val="12000"/>
              </a:srgbClr>
            </a:outerShdw>
          </a:effectLst>
        </p:spPr>
      </p:sp>
      <p:sp>
        <p:nvSpPr>
          <p:cNvPr id="5" name="Text 3"/>
          <p:cNvSpPr/>
          <p:nvPr/>
        </p:nvSpPr>
        <p:spPr>
          <a:xfrm>
            <a:off x="3291840" y="1828800"/>
            <a:ext cx="2560320" cy="502920"/>
          </a:xfrm>
          <a:prstGeom prst="rect">
            <a:avLst/>
          </a:prstGeom>
          <a:noFill/>
          <a:ln/>
        </p:spPr>
        <p:txBody>
          <a:bodyPr wrap="square" rtlCol="0" anchor="b"/>
          <a:lstStyle/>
          <a:p>
            <a:pPr marL="0" indent="0" algn="ctr">
              <a:buNone/>
            </a:pPr>
            <a:r>
              <a:rPr lang="en-US" sz="1600" b="1" dirty="0">
                <a:solidFill>
                  <a:srgbClr val="FFFFFF"/>
                </a:solidFill>
                <a:latin typeface="Calibri" pitchFamily="34" charset="0"/>
                <a:ea typeface="Calibri" pitchFamily="34" charset="-122"/>
                <a:cs typeface="Calibri" pitchFamily="34" charset="-120"/>
              </a:rPr>
              <a:t>SmartLoan AI</a:t>
            </a:r>
            <a:endParaRPr lang="en-US" sz="1600" dirty="0"/>
          </a:p>
        </p:txBody>
      </p:sp>
      <p:sp>
        <p:nvSpPr>
          <p:cNvPr id="6" name="Text 4"/>
          <p:cNvSpPr/>
          <p:nvPr/>
        </p:nvSpPr>
        <p:spPr>
          <a:xfrm>
            <a:off x="3291840" y="2331720"/>
            <a:ext cx="2560320" cy="411480"/>
          </a:xfrm>
          <a:prstGeom prst="rect">
            <a:avLst/>
          </a:prstGeom>
          <a:noFill/>
          <a:ln/>
        </p:spPr>
        <p:txBody>
          <a:bodyPr wrap="square" rtlCol="0" anchor="t"/>
          <a:lstStyle/>
          <a:p>
            <a:pPr marL="0" indent="0" algn="ctr">
              <a:buNone/>
            </a:pPr>
            <a:r>
              <a:rPr lang="en-US" sz="1200" dirty="0">
                <a:solidFill>
                  <a:srgbClr val="E0F2FE"/>
                </a:solidFill>
                <a:latin typeface="Calibri" pitchFamily="34" charset="0"/>
                <a:ea typeface="Calibri" pitchFamily="34" charset="-122"/>
                <a:cs typeface="Calibri" pitchFamily="34" charset="-120"/>
              </a:rPr>
              <a:t>Web Platform</a:t>
            </a:r>
            <a:endParaRPr lang="en-US" sz="1200" dirty="0"/>
          </a:p>
        </p:txBody>
      </p:sp>
      <p:sp>
        <p:nvSpPr>
          <p:cNvPr id="7" name="Shape 5"/>
          <p:cNvSpPr/>
          <p:nvPr/>
        </p:nvSpPr>
        <p:spPr>
          <a:xfrm>
            <a:off x="182880" y="1280160"/>
            <a:ext cx="2377440" cy="822960"/>
          </a:xfrm>
          <a:prstGeom prst="rect">
            <a:avLst/>
          </a:prstGeom>
          <a:solidFill>
            <a:srgbClr val="113F6A"/>
          </a:solidFill>
          <a:ln w="12700">
            <a:solidFill>
              <a:srgbClr val="0891B2"/>
            </a:solidFill>
            <a:prstDash val="solid"/>
          </a:ln>
          <a:effectLst>
            <a:outerShdw blurRad="63500" dist="25400" dir="8100000" algn="bl" rotWithShape="0">
              <a:srgbClr val="000000">
                <a:alpha val="12000"/>
              </a:srgbClr>
            </a:outerShdw>
          </a:effectLst>
        </p:spPr>
      </p:sp>
      <p:sp>
        <p:nvSpPr>
          <p:cNvPr id="8" name="Text 6"/>
          <p:cNvSpPr/>
          <p:nvPr/>
        </p:nvSpPr>
        <p:spPr>
          <a:xfrm>
            <a:off x="182880" y="1325880"/>
            <a:ext cx="2377440" cy="384048"/>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ML Prediction</a:t>
            </a:r>
            <a:endParaRPr lang="en-US" sz="1300" dirty="0"/>
          </a:p>
        </p:txBody>
      </p:sp>
      <p:sp>
        <p:nvSpPr>
          <p:cNvPr id="9" name="Text 7"/>
          <p:cNvSpPr/>
          <p:nvPr/>
        </p:nvSpPr>
        <p:spPr>
          <a:xfrm>
            <a:off x="182880" y="1709928"/>
            <a:ext cx="2377440" cy="365760"/>
          </a:xfrm>
          <a:prstGeom prst="rect">
            <a:avLst/>
          </a:prstGeom>
          <a:noFill/>
          <a:ln/>
        </p:spPr>
        <p:txBody>
          <a:bodyPr wrap="square" rtlCol="0" anchor="t"/>
          <a:lstStyle/>
          <a:p>
            <a:pPr marL="0" indent="0" algn="ctr">
              <a:buNone/>
            </a:pPr>
            <a:r>
              <a:rPr lang="en-US" sz="1000" dirty="0">
                <a:solidFill>
                  <a:srgbClr val="BAE6FD"/>
                </a:solidFill>
                <a:latin typeface="Calibri" pitchFamily="34" charset="0"/>
                <a:ea typeface="Calibri" pitchFamily="34" charset="-122"/>
                <a:cs typeface="Calibri" pitchFamily="34" charset="-120"/>
              </a:rPr>
              <a:t>Random Forest</a:t>
            </a:r>
            <a:endParaRPr lang="en-US" sz="1000" dirty="0"/>
          </a:p>
          <a:p>
            <a:pPr marL="0" indent="0" algn="ctr">
              <a:buNone/>
            </a:pPr>
            <a:r>
              <a:rPr lang="en-US" sz="1000" dirty="0">
                <a:solidFill>
                  <a:srgbClr val="BAE6FD"/>
                </a:solidFill>
                <a:latin typeface="Calibri" pitchFamily="34" charset="0"/>
                <a:ea typeface="Calibri" pitchFamily="34" charset="-122"/>
                <a:cs typeface="Calibri" pitchFamily="34" charset="-120"/>
              </a:rPr>
              <a:t>Loan_dataset</a:t>
            </a:r>
            <a:endParaRPr lang="en-US" sz="1000" dirty="0"/>
          </a:p>
        </p:txBody>
      </p:sp>
      <p:sp>
        <p:nvSpPr>
          <p:cNvPr id="10" name="Shape 8"/>
          <p:cNvSpPr/>
          <p:nvPr/>
        </p:nvSpPr>
        <p:spPr>
          <a:xfrm>
            <a:off x="182880" y="2926080"/>
            <a:ext cx="2377440" cy="822960"/>
          </a:xfrm>
          <a:prstGeom prst="rect">
            <a:avLst/>
          </a:prstGeom>
          <a:solidFill>
            <a:srgbClr val="113F6A"/>
          </a:solidFill>
          <a:ln w="12700">
            <a:solidFill>
              <a:srgbClr val="0891B2"/>
            </a:solidFill>
            <a:prstDash val="solid"/>
          </a:ln>
          <a:effectLst>
            <a:outerShdw blurRad="63500" dist="25400" dir="8100000" algn="bl" rotWithShape="0">
              <a:srgbClr val="000000">
                <a:alpha val="12000"/>
              </a:srgbClr>
            </a:outerShdw>
          </a:effectLst>
        </p:spPr>
      </p:sp>
      <p:sp>
        <p:nvSpPr>
          <p:cNvPr id="11" name="Text 9"/>
          <p:cNvSpPr/>
          <p:nvPr/>
        </p:nvSpPr>
        <p:spPr>
          <a:xfrm>
            <a:off x="182880" y="2971800"/>
            <a:ext cx="2377440" cy="384048"/>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Bank Policy RAG</a:t>
            </a:r>
            <a:endParaRPr lang="en-US" sz="1300" dirty="0"/>
          </a:p>
        </p:txBody>
      </p:sp>
      <p:sp>
        <p:nvSpPr>
          <p:cNvPr id="12" name="Text 10"/>
          <p:cNvSpPr/>
          <p:nvPr/>
        </p:nvSpPr>
        <p:spPr>
          <a:xfrm>
            <a:off x="182880" y="3355848"/>
            <a:ext cx="2377440" cy="365760"/>
          </a:xfrm>
          <a:prstGeom prst="rect">
            <a:avLst/>
          </a:prstGeom>
          <a:noFill/>
          <a:ln/>
        </p:spPr>
        <p:txBody>
          <a:bodyPr wrap="square" rtlCol="0" anchor="t"/>
          <a:lstStyle/>
          <a:p>
            <a:pPr marL="0" indent="0" algn="ctr">
              <a:buNone/>
            </a:pPr>
            <a:r>
              <a:rPr lang="en-US" sz="1000" dirty="0">
                <a:solidFill>
                  <a:srgbClr val="BAE6FD"/>
                </a:solidFill>
                <a:latin typeface="Calibri" pitchFamily="34" charset="0"/>
                <a:ea typeface="Calibri" pitchFamily="34" charset="-122"/>
                <a:cs typeface="Calibri" pitchFamily="34" charset="-120"/>
              </a:rPr>
              <a:t>20 Banks</a:t>
            </a:r>
            <a:endParaRPr lang="en-US" sz="1000" dirty="0"/>
          </a:p>
          <a:p>
            <a:pPr marL="0" indent="0" algn="ctr">
              <a:buNone/>
            </a:pPr>
            <a:r>
              <a:rPr lang="en-US" sz="1000" dirty="0">
                <a:solidFill>
                  <a:srgbClr val="BAE6FD"/>
                </a:solidFill>
                <a:latin typeface="Calibri" pitchFamily="34" charset="0"/>
                <a:ea typeface="Calibri" pitchFamily="34" charset="-122"/>
                <a:cs typeface="Calibri" pitchFamily="34" charset="-120"/>
              </a:rPr>
              <a:t>Semantic Search</a:t>
            </a:r>
            <a:endParaRPr lang="en-US" sz="1000" dirty="0"/>
          </a:p>
        </p:txBody>
      </p:sp>
      <p:sp>
        <p:nvSpPr>
          <p:cNvPr id="13" name="Shape 11"/>
          <p:cNvSpPr/>
          <p:nvPr/>
        </p:nvSpPr>
        <p:spPr>
          <a:xfrm>
            <a:off x="3291840" y="3063240"/>
            <a:ext cx="2377440" cy="822960"/>
          </a:xfrm>
          <a:prstGeom prst="rect">
            <a:avLst/>
          </a:prstGeom>
          <a:solidFill>
            <a:srgbClr val="113F6A"/>
          </a:solidFill>
          <a:ln w="12700">
            <a:solidFill>
              <a:srgbClr val="0891B2"/>
            </a:solidFill>
            <a:prstDash val="solid"/>
          </a:ln>
          <a:effectLst>
            <a:outerShdw blurRad="63500" dist="25400" dir="8100000" algn="bl" rotWithShape="0">
              <a:srgbClr val="000000">
                <a:alpha val="12000"/>
              </a:srgbClr>
            </a:outerShdw>
          </a:effectLst>
        </p:spPr>
      </p:sp>
      <p:sp>
        <p:nvSpPr>
          <p:cNvPr id="14" name="Text 12"/>
          <p:cNvSpPr/>
          <p:nvPr/>
        </p:nvSpPr>
        <p:spPr>
          <a:xfrm>
            <a:off x="3291840" y="3108960"/>
            <a:ext cx="2377440" cy="384048"/>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Simulation</a:t>
            </a:r>
            <a:endParaRPr lang="en-US" sz="1300" dirty="0"/>
          </a:p>
        </p:txBody>
      </p:sp>
      <p:sp>
        <p:nvSpPr>
          <p:cNvPr id="15" name="Text 13"/>
          <p:cNvSpPr/>
          <p:nvPr/>
        </p:nvSpPr>
        <p:spPr>
          <a:xfrm>
            <a:off x="3291840" y="3493008"/>
            <a:ext cx="2377440" cy="365760"/>
          </a:xfrm>
          <a:prstGeom prst="rect">
            <a:avLst/>
          </a:prstGeom>
          <a:noFill/>
          <a:ln/>
        </p:spPr>
        <p:txBody>
          <a:bodyPr wrap="square" rtlCol="0" anchor="t"/>
          <a:lstStyle/>
          <a:p>
            <a:pPr marL="0" indent="0" algn="ctr">
              <a:buNone/>
            </a:pPr>
            <a:r>
              <a:rPr lang="en-US" sz="1000" dirty="0">
                <a:solidFill>
                  <a:srgbClr val="BAE6FD"/>
                </a:solidFill>
                <a:latin typeface="Calibri" pitchFamily="34" charset="0"/>
                <a:ea typeface="Calibri" pitchFamily="34" charset="-122"/>
                <a:cs typeface="Calibri" pitchFamily="34" charset="-120"/>
              </a:rPr>
              <a:t>Future Scenarios</a:t>
            </a:r>
            <a:endParaRPr lang="en-US" sz="1000" dirty="0"/>
          </a:p>
          <a:p>
            <a:pPr marL="0" indent="0" algn="ctr">
              <a:buNone/>
            </a:pPr>
            <a:r>
              <a:rPr lang="en-US" sz="1000" dirty="0">
                <a:solidFill>
                  <a:srgbClr val="BAE6FD"/>
                </a:solidFill>
                <a:latin typeface="Calibri" pitchFamily="34" charset="0"/>
                <a:ea typeface="Calibri" pitchFamily="34" charset="-122"/>
                <a:cs typeface="Calibri" pitchFamily="34" charset="-120"/>
              </a:rPr>
              <a:t>Dynamic Engine</a:t>
            </a:r>
            <a:endParaRPr lang="en-US" sz="1000" dirty="0"/>
          </a:p>
        </p:txBody>
      </p:sp>
      <p:sp>
        <p:nvSpPr>
          <p:cNvPr id="16" name="Shape 14"/>
          <p:cNvSpPr/>
          <p:nvPr/>
        </p:nvSpPr>
        <p:spPr>
          <a:xfrm>
            <a:off x="6400800" y="1280160"/>
            <a:ext cx="2377440" cy="822960"/>
          </a:xfrm>
          <a:prstGeom prst="rect">
            <a:avLst/>
          </a:prstGeom>
          <a:solidFill>
            <a:srgbClr val="113F6A"/>
          </a:solidFill>
          <a:ln w="12700">
            <a:solidFill>
              <a:srgbClr val="0891B2"/>
            </a:solidFill>
            <a:prstDash val="solid"/>
          </a:ln>
          <a:effectLst>
            <a:outerShdw blurRad="63500" dist="25400" dir="8100000" algn="bl" rotWithShape="0">
              <a:srgbClr val="000000">
                <a:alpha val="12000"/>
              </a:srgbClr>
            </a:outerShdw>
          </a:effectLst>
        </p:spPr>
      </p:sp>
      <p:sp>
        <p:nvSpPr>
          <p:cNvPr id="17" name="Text 15"/>
          <p:cNvSpPr/>
          <p:nvPr/>
        </p:nvSpPr>
        <p:spPr>
          <a:xfrm>
            <a:off x="6400800" y="1325880"/>
            <a:ext cx="2377440" cy="384048"/>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AI Chatbot</a:t>
            </a:r>
            <a:endParaRPr lang="en-US" sz="1300" dirty="0"/>
          </a:p>
        </p:txBody>
      </p:sp>
      <p:sp>
        <p:nvSpPr>
          <p:cNvPr id="18" name="Text 16"/>
          <p:cNvSpPr/>
          <p:nvPr/>
        </p:nvSpPr>
        <p:spPr>
          <a:xfrm>
            <a:off x="6400800" y="1709928"/>
            <a:ext cx="2377440" cy="365760"/>
          </a:xfrm>
          <a:prstGeom prst="rect">
            <a:avLst/>
          </a:prstGeom>
          <a:noFill/>
          <a:ln/>
        </p:spPr>
        <p:txBody>
          <a:bodyPr wrap="square" rtlCol="0" anchor="t"/>
          <a:lstStyle/>
          <a:p>
            <a:pPr marL="0" indent="0" algn="ctr">
              <a:buNone/>
            </a:pPr>
            <a:r>
              <a:rPr lang="en-US" sz="1000" dirty="0">
                <a:solidFill>
                  <a:srgbClr val="BAE6FD"/>
                </a:solidFill>
                <a:latin typeface="Calibri" pitchFamily="34" charset="0"/>
                <a:ea typeface="Calibri" pitchFamily="34" charset="-122"/>
                <a:cs typeface="Calibri" pitchFamily="34" charset="-120"/>
              </a:rPr>
              <a:t>Hybrid NLP</a:t>
            </a:r>
            <a:endParaRPr lang="en-US" sz="1000" dirty="0"/>
          </a:p>
          <a:p>
            <a:pPr marL="0" indent="0" algn="ctr">
              <a:buNone/>
            </a:pPr>
            <a:r>
              <a:rPr lang="en-US" sz="1000" dirty="0">
                <a:solidFill>
                  <a:srgbClr val="BAE6FD"/>
                </a:solidFill>
                <a:latin typeface="Calibri" pitchFamily="34" charset="0"/>
                <a:ea typeface="Calibri" pitchFamily="34" charset="-122"/>
                <a:cs typeface="Calibri" pitchFamily="34" charset="-120"/>
              </a:rPr>
              <a:t>Rule + LLM</a:t>
            </a:r>
            <a:endParaRPr lang="en-US" sz="1000" dirty="0"/>
          </a:p>
        </p:txBody>
      </p:sp>
      <p:sp>
        <p:nvSpPr>
          <p:cNvPr id="19" name="Shape 17"/>
          <p:cNvSpPr/>
          <p:nvPr/>
        </p:nvSpPr>
        <p:spPr>
          <a:xfrm>
            <a:off x="6400800" y="2926080"/>
            <a:ext cx="2377440" cy="822960"/>
          </a:xfrm>
          <a:prstGeom prst="rect">
            <a:avLst/>
          </a:prstGeom>
          <a:solidFill>
            <a:srgbClr val="113F6A"/>
          </a:solidFill>
          <a:ln w="12700">
            <a:solidFill>
              <a:srgbClr val="0891B2"/>
            </a:solidFill>
            <a:prstDash val="solid"/>
          </a:ln>
          <a:effectLst>
            <a:outerShdw blurRad="63500" dist="25400" dir="8100000" algn="bl" rotWithShape="0">
              <a:srgbClr val="000000">
                <a:alpha val="12000"/>
              </a:srgbClr>
            </a:outerShdw>
          </a:effectLst>
        </p:spPr>
      </p:sp>
      <p:sp>
        <p:nvSpPr>
          <p:cNvPr id="20" name="Text 18"/>
          <p:cNvSpPr/>
          <p:nvPr/>
        </p:nvSpPr>
        <p:spPr>
          <a:xfrm>
            <a:off x="6400800" y="2971800"/>
            <a:ext cx="2377440" cy="384048"/>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Financial Score</a:t>
            </a:r>
            <a:endParaRPr lang="en-US" sz="1300" dirty="0"/>
          </a:p>
        </p:txBody>
      </p:sp>
      <p:sp>
        <p:nvSpPr>
          <p:cNvPr id="21" name="Text 19"/>
          <p:cNvSpPr/>
          <p:nvPr/>
        </p:nvSpPr>
        <p:spPr>
          <a:xfrm>
            <a:off x="6400800" y="3355848"/>
            <a:ext cx="2377440" cy="365760"/>
          </a:xfrm>
          <a:prstGeom prst="rect">
            <a:avLst/>
          </a:prstGeom>
          <a:noFill/>
          <a:ln/>
        </p:spPr>
        <p:txBody>
          <a:bodyPr wrap="square" rtlCol="0" anchor="t"/>
          <a:lstStyle/>
          <a:p>
            <a:pPr marL="0" indent="0" algn="ctr">
              <a:buNone/>
            </a:pPr>
            <a:r>
              <a:rPr lang="en-US" sz="1000" dirty="0">
                <a:solidFill>
                  <a:srgbClr val="BAE6FD"/>
                </a:solidFill>
                <a:latin typeface="Calibri" pitchFamily="34" charset="0"/>
                <a:ea typeface="Calibri" pitchFamily="34" charset="-122"/>
                <a:cs typeface="Calibri" pitchFamily="34" charset="-120"/>
              </a:rPr>
              <a:t>Health &amp; Risk</a:t>
            </a:r>
            <a:endParaRPr lang="en-US" sz="1000" dirty="0"/>
          </a:p>
          <a:p>
            <a:pPr marL="0" indent="0" algn="ctr">
              <a:buNone/>
            </a:pPr>
            <a:r>
              <a:rPr lang="en-US" sz="1000" dirty="0">
                <a:solidFill>
                  <a:srgbClr val="BAE6FD"/>
                </a:solidFill>
                <a:latin typeface="Calibri" pitchFamily="34" charset="0"/>
                <a:ea typeface="Calibri" pitchFamily="34" charset="-122"/>
                <a:cs typeface="Calibri" pitchFamily="34" charset="-120"/>
              </a:rPr>
              <a:t>Analysis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3A5C"/>
          </a:solidFill>
          <a:ln w="12700">
            <a:solidFill>
              <a:srgbClr val="1A3A5C"/>
            </a:solidFill>
            <a:prstDash val="solid"/>
          </a:ln>
        </p:spPr>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Key Features</a:t>
            </a:r>
            <a:endParaRPr lang="en-US" sz="2800" dirty="0"/>
          </a:p>
        </p:txBody>
      </p:sp>
      <p:sp>
        <p:nvSpPr>
          <p:cNvPr id="4" name="Shape 2"/>
          <p:cNvSpPr/>
          <p:nvPr/>
        </p:nvSpPr>
        <p:spPr>
          <a:xfrm>
            <a:off x="274320" y="914400"/>
            <a:ext cx="2788920" cy="178308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5" name="Shape 3"/>
          <p:cNvSpPr/>
          <p:nvPr/>
        </p:nvSpPr>
        <p:spPr>
          <a:xfrm>
            <a:off x="274320" y="914400"/>
            <a:ext cx="64008" cy="1783080"/>
          </a:xfrm>
          <a:prstGeom prst="rect">
            <a:avLst/>
          </a:prstGeom>
          <a:solidFill>
            <a:srgbClr val="0891B2"/>
          </a:solidFill>
          <a:ln w="12700">
            <a:solidFill>
              <a:srgbClr val="0891B2"/>
            </a:solidFill>
            <a:prstDash val="solid"/>
          </a:ln>
        </p:spPr>
      </p:sp>
      <p:sp>
        <p:nvSpPr>
          <p:cNvPr id="6" name="Text 4"/>
          <p:cNvSpPr/>
          <p:nvPr/>
        </p:nvSpPr>
        <p:spPr>
          <a:xfrm>
            <a:off x="411480" y="1097280"/>
            <a:ext cx="59436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7" name="Text 5"/>
          <p:cNvSpPr/>
          <p:nvPr/>
        </p:nvSpPr>
        <p:spPr>
          <a:xfrm>
            <a:off x="1078992" y="1097280"/>
            <a:ext cx="1828800" cy="457200"/>
          </a:xfrm>
          <a:prstGeom prst="rect">
            <a:avLst/>
          </a:prstGeom>
          <a:noFill/>
          <a:ln/>
        </p:spPr>
        <p:txBody>
          <a:bodyPr wrap="square"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User Auth</a:t>
            </a:r>
            <a:endParaRPr lang="en-US" sz="1500" dirty="0"/>
          </a:p>
        </p:txBody>
      </p:sp>
      <p:sp>
        <p:nvSpPr>
          <p:cNvPr id="8" name="Text 6"/>
          <p:cNvSpPr/>
          <p:nvPr/>
        </p:nvSpPr>
        <p:spPr>
          <a:xfrm>
            <a:off x="411480" y="1691640"/>
            <a:ext cx="2542032" cy="82296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Secure signup &amp; login</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Firebase Auth integration</a:t>
            </a:r>
            <a:endParaRPr lang="en-US" sz="1200" dirty="0"/>
          </a:p>
        </p:txBody>
      </p:sp>
      <p:sp>
        <p:nvSpPr>
          <p:cNvPr id="9" name="Shape 7"/>
          <p:cNvSpPr/>
          <p:nvPr/>
        </p:nvSpPr>
        <p:spPr>
          <a:xfrm>
            <a:off x="3246120" y="914400"/>
            <a:ext cx="2788920" cy="178308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0" name="Shape 8"/>
          <p:cNvSpPr/>
          <p:nvPr/>
        </p:nvSpPr>
        <p:spPr>
          <a:xfrm>
            <a:off x="3246120" y="914400"/>
            <a:ext cx="64008" cy="1783080"/>
          </a:xfrm>
          <a:prstGeom prst="rect">
            <a:avLst/>
          </a:prstGeom>
          <a:solidFill>
            <a:srgbClr val="0891B2"/>
          </a:solidFill>
          <a:ln w="12700">
            <a:solidFill>
              <a:srgbClr val="0891B2"/>
            </a:solidFill>
            <a:prstDash val="solid"/>
          </a:ln>
        </p:spPr>
      </p:sp>
      <p:sp>
        <p:nvSpPr>
          <p:cNvPr id="11" name="Text 9"/>
          <p:cNvSpPr/>
          <p:nvPr/>
        </p:nvSpPr>
        <p:spPr>
          <a:xfrm>
            <a:off x="3383280" y="1097280"/>
            <a:ext cx="59436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2" name="Text 10"/>
          <p:cNvSpPr/>
          <p:nvPr/>
        </p:nvSpPr>
        <p:spPr>
          <a:xfrm>
            <a:off x="4050792" y="1097280"/>
            <a:ext cx="1828800" cy="457200"/>
          </a:xfrm>
          <a:prstGeom prst="rect">
            <a:avLst/>
          </a:prstGeom>
          <a:noFill/>
          <a:ln/>
        </p:spPr>
        <p:txBody>
          <a:bodyPr wrap="square"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Loan Eligibility</a:t>
            </a:r>
            <a:endParaRPr lang="en-US" sz="1500" dirty="0"/>
          </a:p>
        </p:txBody>
      </p:sp>
      <p:sp>
        <p:nvSpPr>
          <p:cNvPr id="13" name="Text 11"/>
          <p:cNvSpPr/>
          <p:nvPr/>
        </p:nvSpPr>
        <p:spPr>
          <a:xfrm>
            <a:off x="3383280" y="1691640"/>
            <a:ext cx="2542032" cy="82296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AI prediction via</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Random Forest model</a:t>
            </a:r>
            <a:endParaRPr lang="en-US" sz="1200" dirty="0"/>
          </a:p>
        </p:txBody>
      </p:sp>
      <p:sp>
        <p:nvSpPr>
          <p:cNvPr id="14" name="Shape 12"/>
          <p:cNvSpPr/>
          <p:nvPr/>
        </p:nvSpPr>
        <p:spPr>
          <a:xfrm>
            <a:off x="6217920" y="914400"/>
            <a:ext cx="2788920" cy="178308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15" name="Shape 13"/>
          <p:cNvSpPr/>
          <p:nvPr/>
        </p:nvSpPr>
        <p:spPr>
          <a:xfrm>
            <a:off x="6217920" y="914400"/>
            <a:ext cx="64008" cy="1783080"/>
          </a:xfrm>
          <a:prstGeom prst="rect">
            <a:avLst/>
          </a:prstGeom>
          <a:solidFill>
            <a:srgbClr val="0891B2"/>
          </a:solidFill>
          <a:ln w="12700">
            <a:solidFill>
              <a:srgbClr val="0891B2"/>
            </a:solidFill>
            <a:prstDash val="solid"/>
          </a:ln>
        </p:spPr>
      </p:sp>
      <p:sp>
        <p:nvSpPr>
          <p:cNvPr id="16" name="Text 14"/>
          <p:cNvSpPr/>
          <p:nvPr/>
        </p:nvSpPr>
        <p:spPr>
          <a:xfrm>
            <a:off x="6355080" y="1097280"/>
            <a:ext cx="59436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7" name="Text 15"/>
          <p:cNvSpPr/>
          <p:nvPr/>
        </p:nvSpPr>
        <p:spPr>
          <a:xfrm>
            <a:off x="7022592" y="1097280"/>
            <a:ext cx="1828800" cy="457200"/>
          </a:xfrm>
          <a:prstGeom prst="rect">
            <a:avLst/>
          </a:prstGeom>
          <a:noFill/>
          <a:ln/>
        </p:spPr>
        <p:txBody>
          <a:bodyPr wrap="square"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EMI Calculator</a:t>
            </a:r>
            <a:endParaRPr lang="en-US" sz="1500" dirty="0"/>
          </a:p>
        </p:txBody>
      </p:sp>
      <p:sp>
        <p:nvSpPr>
          <p:cNvPr id="18" name="Text 16"/>
          <p:cNvSpPr/>
          <p:nvPr/>
        </p:nvSpPr>
        <p:spPr>
          <a:xfrm>
            <a:off x="6355080" y="1691640"/>
            <a:ext cx="2542032" cy="82296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Monthly installments</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with interest breakdown</a:t>
            </a:r>
            <a:endParaRPr lang="en-US" sz="1200" dirty="0"/>
          </a:p>
        </p:txBody>
      </p:sp>
      <p:sp>
        <p:nvSpPr>
          <p:cNvPr id="19" name="Shape 17"/>
          <p:cNvSpPr/>
          <p:nvPr/>
        </p:nvSpPr>
        <p:spPr>
          <a:xfrm>
            <a:off x="274320" y="2926080"/>
            <a:ext cx="2788920" cy="178308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20" name="Shape 18"/>
          <p:cNvSpPr/>
          <p:nvPr/>
        </p:nvSpPr>
        <p:spPr>
          <a:xfrm>
            <a:off x="274320" y="2926080"/>
            <a:ext cx="64008" cy="1783080"/>
          </a:xfrm>
          <a:prstGeom prst="rect">
            <a:avLst/>
          </a:prstGeom>
          <a:solidFill>
            <a:srgbClr val="0891B2"/>
          </a:solidFill>
          <a:ln w="12700">
            <a:solidFill>
              <a:srgbClr val="0891B2"/>
            </a:solidFill>
            <a:prstDash val="solid"/>
          </a:ln>
        </p:spPr>
      </p:sp>
      <p:sp>
        <p:nvSpPr>
          <p:cNvPr id="21" name="Text 19"/>
          <p:cNvSpPr/>
          <p:nvPr/>
        </p:nvSpPr>
        <p:spPr>
          <a:xfrm>
            <a:off x="411480" y="3108960"/>
            <a:ext cx="59436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2" name="Text 20"/>
          <p:cNvSpPr/>
          <p:nvPr/>
        </p:nvSpPr>
        <p:spPr>
          <a:xfrm>
            <a:off x="1078992" y="3108960"/>
            <a:ext cx="1828800" cy="457200"/>
          </a:xfrm>
          <a:prstGeom prst="rect">
            <a:avLst/>
          </a:prstGeom>
          <a:noFill/>
          <a:ln/>
        </p:spPr>
        <p:txBody>
          <a:bodyPr wrap="square"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Dashboard</a:t>
            </a:r>
            <a:endParaRPr lang="en-US" sz="1500" dirty="0"/>
          </a:p>
        </p:txBody>
      </p:sp>
      <p:sp>
        <p:nvSpPr>
          <p:cNvPr id="23" name="Text 21"/>
          <p:cNvSpPr/>
          <p:nvPr/>
        </p:nvSpPr>
        <p:spPr>
          <a:xfrm>
            <a:off x="411480" y="3703320"/>
            <a:ext cx="2542032" cy="82296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Charts, health score</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and risk analysis</a:t>
            </a:r>
            <a:endParaRPr lang="en-US" sz="1200" dirty="0"/>
          </a:p>
        </p:txBody>
      </p:sp>
      <p:sp>
        <p:nvSpPr>
          <p:cNvPr id="24" name="Shape 22"/>
          <p:cNvSpPr/>
          <p:nvPr/>
        </p:nvSpPr>
        <p:spPr>
          <a:xfrm>
            <a:off x="3246120" y="2926080"/>
            <a:ext cx="2788920" cy="178308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25" name="Shape 23"/>
          <p:cNvSpPr/>
          <p:nvPr/>
        </p:nvSpPr>
        <p:spPr>
          <a:xfrm>
            <a:off x="3246120" y="2926080"/>
            <a:ext cx="64008" cy="1783080"/>
          </a:xfrm>
          <a:prstGeom prst="rect">
            <a:avLst/>
          </a:prstGeom>
          <a:solidFill>
            <a:srgbClr val="0891B2"/>
          </a:solidFill>
          <a:ln w="12700">
            <a:solidFill>
              <a:srgbClr val="0891B2"/>
            </a:solidFill>
            <a:prstDash val="solid"/>
          </a:ln>
        </p:spPr>
      </p:sp>
      <p:sp>
        <p:nvSpPr>
          <p:cNvPr id="26" name="Text 24"/>
          <p:cNvSpPr/>
          <p:nvPr/>
        </p:nvSpPr>
        <p:spPr>
          <a:xfrm>
            <a:off x="3383280" y="3108960"/>
            <a:ext cx="59436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27" name="Text 25"/>
          <p:cNvSpPr/>
          <p:nvPr/>
        </p:nvSpPr>
        <p:spPr>
          <a:xfrm>
            <a:off x="4050792" y="3108960"/>
            <a:ext cx="1828800" cy="457200"/>
          </a:xfrm>
          <a:prstGeom prst="rect">
            <a:avLst/>
          </a:prstGeom>
          <a:noFill/>
          <a:ln/>
        </p:spPr>
        <p:txBody>
          <a:bodyPr wrap="square"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Bank Comparison</a:t>
            </a:r>
            <a:endParaRPr lang="en-US" sz="1500" dirty="0"/>
          </a:p>
        </p:txBody>
      </p:sp>
      <p:sp>
        <p:nvSpPr>
          <p:cNvPr id="28" name="Text 26"/>
          <p:cNvSpPr/>
          <p:nvPr/>
        </p:nvSpPr>
        <p:spPr>
          <a:xfrm>
            <a:off x="3383280" y="3703320"/>
            <a:ext cx="2542032" cy="82296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20 banks ranked by</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your profile match</a:t>
            </a:r>
            <a:endParaRPr lang="en-US" sz="1200" dirty="0"/>
          </a:p>
        </p:txBody>
      </p:sp>
      <p:sp>
        <p:nvSpPr>
          <p:cNvPr id="29" name="Shape 27"/>
          <p:cNvSpPr/>
          <p:nvPr/>
        </p:nvSpPr>
        <p:spPr>
          <a:xfrm>
            <a:off x="6217920" y="2926080"/>
            <a:ext cx="2788920" cy="1783080"/>
          </a:xfrm>
          <a:prstGeom prst="rect">
            <a:avLst/>
          </a:prstGeom>
          <a:solidFill>
            <a:srgbClr val="FFFFFF"/>
          </a:solidFill>
          <a:ln w="12700">
            <a:solidFill>
              <a:srgbClr val="E2E8F0"/>
            </a:solidFill>
            <a:prstDash val="solid"/>
          </a:ln>
          <a:effectLst>
            <a:outerShdw blurRad="63500" dist="25400" dir="8100000" algn="bl" rotWithShape="0">
              <a:srgbClr val="000000">
                <a:alpha val="12000"/>
              </a:srgbClr>
            </a:outerShdw>
          </a:effectLst>
        </p:spPr>
      </p:sp>
      <p:sp>
        <p:nvSpPr>
          <p:cNvPr id="30" name="Shape 28"/>
          <p:cNvSpPr/>
          <p:nvPr/>
        </p:nvSpPr>
        <p:spPr>
          <a:xfrm>
            <a:off x="6217920" y="2926080"/>
            <a:ext cx="64008" cy="1783080"/>
          </a:xfrm>
          <a:prstGeom prst="rect">
            <a:avLst/>
          </a:prstGeom>
          <a:solidFill>
            <a:srgbClr val="0891B2"/>
          </a:solidFill>
          <a:ln w="12700">
            <a:solidFill>
              <a:srgbClr val="0891B2"/>
            </a:solidFill>
            <a:prstDash val="solid"/>
          </a:ln>
        </p:spPr>
      </p:sp>
      <p:sp>
        <p:nvSpPr>
          <p:cNvPr id="31" name="Text 29"/>
          <p:cNvSpPr/>
          <p:nvPr/>
        </p:nvSpPr>
        <p:spPr>
          <a:xfrm>
            <a:off x="6355080" y="3108960"/>
            <a:ext cx="594360" cy="54864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32" name="Text 30"/>
          <p:cNvSpPr/>
          <p:nvPr/>
        </p:nvSpPr>
        <p:spPr>
          <a:xfrm>
            <a:off x="7022592" y="3108960"/>
            <a:ext cx="1828800" cy="457200"/>
          </a:xfrm>
          <a:prstGeom prst="rect">
            <a:avLst/>
          </a:prstGeom>
          <a:noFill/>
          <a:ln/>
        </p:spPr>
        <p:txBody>
          <a:bodyPr wrap="square" rtlCol="0" anchor="ctr"/>
          <a:lstStyle/>
          <a:p>
            <a:pPr marL="0" indent="0">
              <a:buNone/>
            </a:pPr>
            <a:r>
              <a:rPr lang="en-US" sz="1500" b="1" dirty="0">
                <a:solidFill>
                  <a:srgbClr val="1E293B"/>
                </a:solidFill>
                <a:latin typeface="Calibri" pitchFamily="34" charset="0"/>
                <a:ea typeface="Calibri" pitchFamily="34" charset="-122"/>
                <a:cs typeface="Calibri" pitchFamily="34" charset="-120"/>
              </a:rPr>
              <a:t>AI Chatbot</a:t>
            </a:r>
            <a:endParaRPr lang="en-US" sz="1500" dirty="0"/>
          </a:p>
        </p:txBody>
      </p:sp>
      <p:sp>
        <p:nvSpPr>
          <p:cNvPr id="33" name="Text 31"/>
          <p:cNvSpPr/>
          <p:nvPr/>
        </p:nvSpPr>
        <p:spPr>
          <a:xfrm>
            <a:off x="6355080" y="3703320"/>
            <a:ext cx="2542032" cy="82296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Hybrid rule-based</a:t>
            </a:r>
            <a:endParaRPr lang="en-US" sz="1200" dirty="0"/>
          </a:p>
          <a:p>
            <a:pPr marL="0" indent="0">
              <a:buNone/>
            </a:pPr>
            <a:r>
              <a:rPr lang="en-US" sz="1200" dirty="0">
                <a:solidFill>
                  <a:srgbClr val="475569"/>
                </a:solidFill>
                <a:latin typeface="Calibri" pitchFamily="34" charset="0"/>
                <a:ea typeface="Calibri" pitchFamily="34" charset="-122"/>
                <a:cs typeface="Calibri" pitchFamily="34" charset="-120"/>
              </a:rPr>
              <a:t>+ Gemini API assistant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75985"/>
          </a:solidFill>
          <a:ln w="12700">
            <a:solidFill>
              <a:srgbClr val="075985"/>
            </a:solidFill>
            <a:prstDash val="solid"/>
          </a:ln>
        </p:spPr>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AI / ML Prediction Model</a:t>
            </a:r>
            <a:endParaRPr lang="en-US" sz="2800" dirty="0"/>
          </a:p>
        </p:txBody>
      </p:sp>
      <p:sp>
        <p:nvSpPr>
          <p:cNvPr id="4" name="Text 2"/>
          <p:cNvSpPr/>
          <p:nvPr/>
        </p:nvSpPr>
        <p:spPr>
          <a:xfrm>
            <a:off x="274320" y="1005840"/>
            <a:ext cx="4114800" cy="402336"/>
          </a:xfrm>
          <a:prstGeom prst="rect">
            <a:avLst/>
          </a:prstGeom>
          <a:noFill/>
          <a:ln/>
        </p:spPr>
        <p:txBody>
          <a:bodyPr wrap="square" rtlCol="0" anchor="ctr"/>
          <a:lstStyle/>
          <a:p>
            <a:pPr marL="0" indent="0">
              <a:buNone/>
            </a:pPr>
            <a:r>
              <a:rPr lang="en-US" sz="1700" b="1" dirty="0">
                <a:solidFill>
                  <a:srgbClr val="1E293B"/>
                </a:solidFill>
                <a:latin typeface="Calibri" pitchFamily="34" charset="0"/>
                <a:ea typeface="Calibri" pitchFamily="34" charset="-122"/>
                <a:cs typeface="Calibri" pitchFamily="34" charset="-120"/>
              </a:rPr>
              <a:t>How It Works</a:t>
            </a:r>
            <a:endParaRPr lang="en-US" sz="1700" dirty="0"/>
          </a:p>
        </p:txBody>
      </p:sp>
      <p:sp>
        <p:nvSpPr>
          <p:cNvPr id="5" name="Shape 3"/>
          <p:cNvSpPr/>
          <p:nvPr/>
        </p:nvSpPr>
        <p:spPr>
          <a:xfrm>
            <a:off x="274320" y="1554480"/>
            <a:ext cx="420624" cy="420624"/>
          </a:xfrm>
          <a:prstGeom prst="ellipse">
            <a:avLst/>
          </a:prstGeom>
          <a:solidFill>
            <a:srgbClr val="0891B2"/>
          </a:solidFill>
          <a:ln w="12700">
            <a:solidFill>
              <a:srgbClr val="0891B2"/>
            </a:solidFill>
            <a:prstDash val="solid"/>
          </a:ln>
        </p:spPr>
      </p:sp>
      <p:sp>
        <p:nvSpPr>
          <p:cNvPr id="6" name="Text 4"/>
          <p:cNvSpPr/>
          <p:nvPr/>
        </p:nvSpPr>
        <p:spPr>
          <a:xfrm>
            <a:off x="274320" y="155448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22960" y="1508760"/>
            <a:ext cx="3200400" cy="329184"/>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User enters financial data</a:t>
            </a:r>
            <a:endParaRPr lang="en-US" sz="1300" dirty="0"/>
          </a:p>
        </p:txBody>
      </p:sp>
      <p:sp>
        <p:nvSpPr>
          <p:cNvPr id="8" name="Text 6"/>
          <p:cNvSpPr/>
          <p:nvPr/>
        </p:nvSpPr>
        <p:spPr>
          <a:xfrm>
            <a:off x="822960" y="1837944"/>
            <a:ext cx="3200400" cy="2743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Income · debts · credit score</a:t>
            </a:r>
            <a:endParaRPr lang="en-US" sz="1100" dirty="0"/>
          </a:p>
        </p:txBody>
      </p:sp>
      <p:sp>
        <p:nvSpPr>
          <p:cNvPr id="9" name="Shape 7"/>
          <p:cNvSpPr/>
          <p:nvPr/>
        </p:nvSpPr>
        <p:spPr>
          <a:xfrm>
            <a:off x="475488" y="1975104"/>
            <a:ext cx="0" cy="374904"/>
          </a:xfrm>
          <a:prstGeom prst="line">
            <a:avLst/>
          </a:prstGeom>
          <a:noFill/>
          <a:ln w="19050">
            <a:solidFill>
              <a:srgbClr val="0891B2"/>
            </a:solidFill>
            <a:prstDash val="dash"/>
          </a:ln>
        </p:spPr>
      </p:sp>
      <p:sp>
        <p:nvSpPr>
          <p:cNvPr id="10" name="Shape 8"/>
          <p:cNvSpPr/>
          <p:nvPr/>
        </p:nvSpPr>
        <p:spPr>
          <a:xfrm>
            <a:off x="274320" y="2395728"/>
            <a:ext cx="420624" cy="420624"/>
          </a:xfrm>
          <a:prstGeom prst="ellipse">
            <a:avLst/>
          </a:prstGeom>
          <a:solidFill>
            <a:srgbClr val="0891B2"/>
          </a:solidFill>
          <a:ln w="12700">
            <a:solidFill>
              <a:srgbClr val="0891B2"/>
            </a:solidFill>
            <a:prstDash val="solid"/>
          </a:ln>
        </p:spPr>
      </p:sp>
      <p:sp>
        <p:nvSpPr>
          <p:cNvPr id="11" name="Text 9"/>
          <p:cNvSpPr/>
          <p:nvPr/>
        </p:nvSpPr>
        <p:spPr>
          <a:xfrm>
            <a:off x="274320" y="239572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822960" y="2350008"/>
            <a:ext cx="3200400" cy="329184"/>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Flask API processes &amp; normalizes</a:t>
            </a:r>
            <a:endParaRPr lang="en-US" sz="1300" dirty="0"/>
          </a:p>
        </p:txBody>
      </p:sp>
      <p:sp>
        <p:nvSpPr>
          <p:cNvPr id="13" name="Text 11"/>
          <p:cNvSpPr/>
          <p:nvPr/>
        </p:nvSpPr>
        <p:spPr>
          <a:xfrm>
            <a:off x="822960" y="2679192"/>
            <a:ext cx="3200400" cy="2743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Feature engineering applied</a:t>
            </a:r>
            <a:endParaRPr lang="en-US" sz="1100" dirty="0"/>
          </a:p>
        </p:txBody>
      </p:sp>
      <p:sp>
        <p:nvSpPr>
          <p:cNvPr id="14" name="Shape 12"/>
          <p:cNvSpPr/>
          <p:nvPr/>
        </p:nvSpPr>
        <p:spPr>
          <a:xfrm>
            <a:off x="475488" y="2816352"/>
            <a:ext cx="0" cy="374904"/>
          </a:xfrm>
          <a:prstGeom prst="line">
            <a:avLst/>
          </a:prstGeom>
          <a:noFill/>
          <a:ln w="19050">
            <a:solidFill>
              <a:srgbClr val="0891B2"/>
            </a:solidFill>
            <a:prstDash val="dash"/>
          </a:ln>
        </p:spPr>
      </p:sp>
      <p:sp>
        <p:nvSpPr>
          <p:cNvPr id="15" name="Shape 13"/>
          <p:cNvSpPr/>
          <p:nvPr/>
        </p:nvSpPr>
        <p:spPr>
          <a:xfrm>
            <a:off x="274320" y="3236976"/>
            <a:ext cx="420624" cy="420624"/>
          </a:xfrm>
          <a:prstGeom prst="ellipse">
            <a:avLst/>
          </a:prstGeom>
          <a:solidFill>
            <a:srgbClr val="0891B2"/>
          </a:solidFill>
          <a:ln w="12700">
            <a:solidFill>
              <a:srgbClr val="0891B2"/>
            </a:solidFill>
            <a:prstDash val="solid"/>
          </a:ln>
        </p:spPr>
      </p:sp>
      <p:sp>
        <p:nvSpPr>
          <p:cNvPr id="16" name="Text 14"/>
          <p:cNvSpPr/>
          <p:nvPr/>
        </p:nvSpPr>
        <p:spPr>
          <a:xfrm>
            <a:off x="274320" y="323697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22960" y="3191256"/>
            <a:ext cx="3200400" cy="329184"/>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Random Forest predicts</a:t>
            </a:r>
            <a:endParaRPr lang="en-US" sz="1300" dirty="0"/>
          </a:p>
        </p:txBody>
      </p:sp>
      <p:sp>
        <p:nvSpPr>
          <p:cNvPr id="18" name="Text 16"/>
          <p:cNvSpPr/>
          <p:nvPr/>
        </p:nvSpPr>
        <p:spPr>
          <a:xfrm>
            <a:off x="822960" y="3520440"/>
            <a:ext cx="3200400" cy="2743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Approval probability computed</a:t>
            </a:r>
            <a:endParaRPr lang="en-US" sz="1100" dirty="0"/>
          </a:p>
        </p:txBody>
      </p:sp>
      <p:sp>
        <p:nvSpPr>
          <p:cNvPr id="19" name="Shape 17"/>
          <p:cNvSpPr/>
          <p:nvPr/>
        </p:nvSpPr>
        <p:spPr>
          <a:xfrm>
            <a:off x="475488" y="3657600"/>
            <a:ext cx="0" cy="374904"/>
          </a:xfrm>
          <a:prstGeom prst="line">
            <a:avLst/>
          </a:prstGeom>
          <a:noFill/>
          <a:ln w="19050">
            <a:solidFill>
              <a:srgbClr val="0891B2"/>
            </a:solidFill>
            <a:prstDash val="dash"/>
          </a:ln>
        </p:spPr>
      </p:sp>
      <p:sp>
        <p:nvSpPr>
          <p:cNvPr id="20" name="Shape 18"/>
          <p:cNvSpPr/>
          <p:nvPr/>
        </p:nvSpPr>
        <p:spPr>
          <a:xfrm>
            <a:off x="274320" y="4078224"/>
            <a:ext cx="420624" cy="420624"/>
          </a:xfrm>
          <a:prstGeom prst="ellipse">
            <a:avLst/>
          </a:prstGeom>
          <a:solidFill>
            <a:srgbClr val="0891B2"/>
          </a:solidFill>
          <a:ln w="12700">
            <a:solidFill>
              <a:srgbClr val="0891B2"/>
            </a:solidFill>
            <a:prstDash val="solid"/>
          </a:ln>
        </p:spPr>
      </p:sp>
      <p:sp>
        <p:nvSpPr>
          <p:cNvPr id="21" name="Text 19"/>
          <p:cNvSpPr/>
          <p:nvPr/>
        </p:nvSpPr>
        <p:spPr>
          <a:xfrm>
            <a:off x="274320" y="407822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822960" y="4032504"/>
            <a:ext cx="3200400" cy="329184"/>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Outputs sent to dashboard</a:t>
            </a:r>
            <a:endParaRPr lang="en-US" sz="1300" dirty="0"/>
          </a:p>
        </p:txBody>
      </p:sp>
      <p:sp>
        <p:nvSpPr>
          <p:cNvPr id="23" name="Text 21"/>
          <p:cNvSpPr/>
          <p:nvPr/>
        </p:nvSpPr>
        <p:spPr>
          <a:xfrm>
            <a:off x="822960" y="4361688"/>
            <a:ext cx="3200400" cy="2743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Score · risk level · advice</a:t>
            </a:r>
            <a:endParaRPr lang="en-US" sz="1100" dirty="0"/>
          </a:p>
        </p:txBody>
      </p:sp>
      <p:sp>
        <p:nvSpPr>
          <p:cNvPr id="24" name="Shape 22"/>
          <p:cNvSpPr/>
          <p:nvPr/>
        </p:nvSpPr>
        <p:spPr>
          <a:xfrm>
            <a:off x="4663440" y="914400"/>
            <a:ext cx="4114800" cy="4023360"/>
          </a:xfrm>
          <a:prstGeom prst="rect">
            <a:avLst/>
          </a:prstGeom>
          <a:solidFill>
            <a:srgbClr val="F0F9FF"/>
          </a:solidFill>
          <a:ln w="12700">
            <a:solidFill>
              <a:srgbClr val="BAE6FD"/>
            </a:solidFill>
            <a:prstDash val="solid"/>
          </a:ln>
          <a:effectLst>
            <a:outerShdw blurRad="63500" dist="25400" dir="8100000" algn="bl" rotWithShape="0">
              <a:srgbClr val="000000">
                <a:alpha val="12000"/>
              </a:srgbClr>
            </a:outerShdw>
          </a:effectLst>
        </p:spPr>
      </p:sp>
      <p:sp>
        <p:nvSpPr>
          <p:cNvPr id="25" name="Text 23"/>
          <p:cNvSpPr/>
          <p:nvPr/>
        </p:nvSpPr>
        <p:spPr>
          <a:xfrm>
            <a:off x="4846320" y="1051560"/>
            <a:ext cx="3749040" cy="402336"/>
          </a:xfrm>
          <a:prstGeom prst="rect">
            <a:avLst/>
          </a:prstGeom>
          <a:noFill/>
          <a:ln/>
        </p:spPr>
        <p:txBody>
          <a:bodyPr wrap="square" rtlCol="0" anchor="ctr"/>
          <a:lstStyle/>
          <a:p>
            <a:pPr marL="0" indent="0">
              <a:buNone/>
            </a:pPr>
            <a:r>
              <a:rPr lang="en-US" sz="1500" b="1" dirty="0">
                <a:solidFill>
                  <a:srgbClr val="0369A1"/>
                </a:solidFill>
                <a:latin typeface="Calibri" pitchFamily="34" charset="0"/>
                <a:ea typeface="Calibri" pitchFamily="34" charset="-122"/>
                <a:cs typeface="Calibri" pitchFamily="34" charset="-120"/>
              </a:rPr>
              <a:t>Model Details</a:t>
            </a:r>
            <a:endParaRPr lang="en-US" sz="1500" dirty="0"/>
          </a:p>
        </p:txBody>
      </p:sp>
      <p:sp>
        <p:nvSpPr>
          <p:cNvPr id="26" name="Text 24"/>
          <p:cNvSpPr/>
          <p:nvPr/>
        </p:nvSpPr>
        <p:spPr>
          <a:xfrm>
            <a:off x="4846320" y="1572768"/>
            <a:ext cx="1463040" cy="320040"/>
          </a:xfrm>
          <a:prstGeom prst="rect">
            <a:avLst/>
          </a:prstGeom>
          <a:noFill/>
          <a:ln/>
        </p:spPr>
        <p:txBody>
          <a:bodyPr wrap="square"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Algorithm</a:t>
            </a:r>
            <a:endParaRPr lang="en-US" sz="1100" dirty="0"/>
          </a:p>
        </p:txBody>
      </p:sp>
      <p:sp>
        <p:nvSpPr>
          <p:cNvPr id="27" name="Text 25"/>
          <p:cNvSpPr/>
          <p:nvPr/>
        </p:nvSpPr>
        <p:spPr>
          <a:xfrm>
            <a:off x="6355080" y="1572768"/>
            <a:ext cx="224028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Random Forest Classifier</a:t>
            </a:r>
            <a:endParaRPr lang="en-US" sz="1200" dirty="0"/>
          </a:p>
        </p:txBody>
      </p:sp>
      <p:sp>
        <p:nvSpPr>
          <p:cNvPr id="28" name="Text 26"/>
          <p:cNvSpPr/>
          <p:nvPr/>
        </p:nvSpPr>
        <p:spPr>
          <a:xfrm>
            <a:off x="4846320" y="2221992"/>
            <a:ext cx="1463040" cy="320040"/>
          </a:xfrm>
          <a:prstGeom prst="rect">
            <a:avLst/>
          </a:prstGeom>
          <a:noFill/>
          <a:ln/>
        </p:spPr>
        <p:txBody>
          <a:bodyPr wrap="square"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Library</a:t>
            </a:r>
            <a:endParaRPr lang="en-US" sz="1100" dirty="0"/>
          </a:p>
        </p:txBody>
      </p:sp>
      <p:sp>
        <p:nvSpPr>
          <p:cNvPr id="29" name="Text 27"/>
          <p:cNvSpPr/>
          <p:nvPr/>
        </p:nvSpPr>
        <p:spPr>
          <a:xfrm>
            <a:off x="6355080" y="2221992"/>
            <a:ext cx="224028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scikit-learn (Python)</a:t>
            </a:r>
            <a:endParaRPr lang="en-US" sz="1200" dirty="0"/>
          </a:p>
        </p:txBody>
      </p:sp>
      <p:sp>
        <p:nvSpPr>
          <p:cNvPr id="30" name="Text 28"/>
          <p:cNvSpPr/>
          <p:nvPr/>
        </p:nvSpPr>
        <p:spPr>
          <a:xfrm>
            <a:off x="4846320" y="2871216"/>
            <a:ext cx="1463040" cy="320040"/>
          </a:xfrm>
          <a:prstGeom prst="rect">
            <a:avLst/>
          </a:prstGeom>
          <a:noFill/>
          <a:ln/>
        </p:spPr>
        <p:txBody>
          <a:bodyPr wrap="square"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Training Data</a:t>
            </a:r>
            <a:endParaRPr lang="en-US" sz="1100" dirty="0"/>
          </a:p>
        </p:txBody>
      </p:sp>
      <p:sp>
        <p:nvSpPr>
          <p:cNvPr id="31" name="Text 29"/>
          <p:cNvSpPr/>
          <p:nvPr/>
        </p:nvSpPr>
        <p:spPr>
          <a:xfrm>
            <a:off x="6355080" y="2871216"/>
            <a:ext cx="224028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Loan_dataset (historical)</a:t>
            </a:r>
            <a:endParaRPr lang="en-US" sz="1200" dirty="0"/>
          </a:p>
        </p:txBody>
      </p:sp>
      <p:sp>
        <p:nvSpPr>
          <p:cNvPr id="32" name="Text 30"/>
          <p:cNvSpPr/>
          <p:nvPr/>
        </p:nvSpPr>
        <p:spPr>
          <a:xfrm>
            <a:off x="4846320" y="3520440"/>
            <a:ext cx="1463040" cy="320040"/>
          </a:xfrm>
          <a:prstGeom prst="rect">
            <a:avLst/>
          </a:prstGeom>
          <a:noFill/>
          <a:ln/>
        </p:spPr>
        <p:txBody>
          <a:bodyPr wrap="square"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Key Features</a:t>
            </a:r>
            <a:endParaRPr lang="en-US" sz="1100" dirty="0"/>
          </a:p>
        </p:txBody>
      </p:sp>
      <p:sp>
        <p:nvSpPr>
          <p:cNvPr id="33" name="Text 31"/>
          <p:cNvSpPr/>
          <p:nvPr/>
        </p:nvSpPr>
        <p:spPr>
          <a:xfrm>
            <a:off x="6355080" y="3520440"/>
            <a:ext cx="224028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Income, debts, employment,</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credit history, loan amount</a:t>
            </a:r>
            <a:endParaRPr lang="en-US" sz="1200" dirty="0"/>
          </a:p>
        </p:txBody>
      </p:sp>
      <p:sp>
        <p:nvSpPr>
          <p:cNvPr id="34" name="Text 32"/>
          <p:cNvSpPr/>
          <p:nvPr/>
        </p:nvSpPr>
        <p:spPr>
          <a:xfrm>
            <a:off x="4846320" y="4169664"/>
            <a:ext cx="1463040" cy="320040"/>
          </a:xfrm>
          <a:prstGeom prst="rect">
            <a:avLst/>
          </a:prstGeom>
          <a:noFill/>
          <a:ln/>
        </p:spPr>
        <p:txBody>
          <a:bodyPr wrap="square" rtlCol="0" anchor="ctr"/>
          <a:lstStyle/>
          <a:p>
            <a:pPr marL="0" indent="0">
              <a:buNone/>
            </a:pPr>
            <a:r>
              <a:rPr lang="en-US" sz="1100" b="1" dirty="0">
                <a:solidFill>
                  <a:srgbClr val="94A3B8"/>
                </a:solidFill>
                <a:latin typeface="Calibri" pitchFamily="34" charset="0"/>
                <a:ea typeface="Calibri" pitchFamily="34" charset="-122"/>
                <a:cs typeface="Calibri" pitchFamily="34" charset="-120"/>
              </a:rPr>
              <a:t>Outputs</a:t>
            </a:r>
            <a:endParaRPr lang="en-US" sz="1100" dirty="0"/>
          </a:p>
        </p:txBody>
      </p:sp>
      <p:sp>
        <p:nvSpPr>
          <p:cNvPr id="35" name="Text 33"/>
          <p:cNvSpPr/>
          <p:nvPr/>
        </p:nvSpPr>
        <p:spPr>
          <a:xfrm>
            <a:off x="6355080" y="4169664"/>
            <a:ext cx="2240280" cy="502920"/>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Approval probability %</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Risk level · Health score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47857"/>
          </a:solidFill>
          <a:ln w="12700">
            <a:solidFill>
              <a:srgbClr val="047857"/>
            </a:solidFill>
            <a:prstDash val="solid"/>
          </a:ln>
        </p:spPr>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Bank Policy Intelligence  —  RAG Engine</a:t>
            </a:r>
            <a:endParaRPr lang="en-US" sz="2600" dirty="0"/>
          </a:p>
        </p:txBody>
      </p:sp>
      <p:sp>
        <p:nvSpPr>
          <p:cNvPr id="4" name="Text 2"/>
          <p:cNvSpPr/>
          <p:nvPr/>
        </p:nvSpPr>
        <p:spPr>
          <a:xfrm>
            <a:off x="365760" y="868680"/>
            <a:ext cx="8412480" cy="347472"/>
          </a:xfrm>
          <a:prstGeom prst="rect">
            <a:avLst/>
          </a:prstGeom>
          <a:noFill/>
          <a:ln/>
        </p:spPr>
        <p:txBody>
          <a:bodyPr wrap="square"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20 bank policies stored, embedded and retrieved in real-time based on user profile</a:t>
            </a:r>
            <a:endParaRPr lang="en-US" sz="1200" dirty="0"/>
          </a:p>
        </p:txBody>
      </p:sp>
      <p:sp>
        <p:nvSpPr>
          <p:cNvPr id="5" name="Shape 3"/>
          <p:cNvSpPr/>
          <p:nvPr/>
        </p:nvSpPr>
        <p:spPr>
          <a:xfrm>
            <a:off x="320040" y="1298448"/>
            <a:ext cx="1508760" cy="1417320"/>
          </a:xfrm>
          <a:prstGeom prst="rect">
            <a:avLst/>
          </a:prstGeom>
          <a:solidFill>
            <a:srgbClr val="1E3A5F"/>
          </a:solidFill>
          <a:ln w="12700">
            <a:solidFill>
              <a:srgbClr val="1E3A5F"/>
            </a:solidFill>
            <a:prstDash val="solid"/>
          </a:ln>
          <a:effectLst>
            <a:outerShdw blurRad="63500" dist="25400" dir="8100000" algn="bl" rotWithShape="0">
              <a:srgbClr val="000000">
                <a:alpha val="12000"/>
              </a:srgbClr>
            </a:outerShdw>
          </a:effectLst>
        </p:spPr>
      </p:sp>
      <p:sp>
        <p:nvSpPr>
          <p:cNvPr id="6" name="Text 4"/>
          <p:cNvSpPr/>
          <p:nvPr/>
        </p:nvSpPr>
        <p:spPr>
          <a:xfrm>
            <a:off x="320040" y="1344168"/>
            <a:ext cx="1508760" cy="685800"/>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Policy</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Documents</a:t>
            </a:r>
            <a:endParaRPr lang="en-US" sz="1300" dirty="0"/>
          </a:p>
        </p:txBody>
      </p:sp>
      <p:sp>
        <p:nvSpPr>
          <p:cNvPr id="7" name="Text 5"/>
          <p:cNvSpPr/>
          <p:nvPr/>
        </p:nvSpPr>
        <p:spPr>
          <a:xfrm>
            <a:off x="320040" y="2029968"/>
            <a:ext cx="1508760" cy="594360"/>
          </a:xfrm>
          <a:prstGeom prst="rect">
            <a:avLst/>
          </a:prstGeom>
          <a:noFill/>
          <a:ln/>
        </p:spPr>
        <p:txBody>
          <a:bodyPr wrap="square" rtlCol="0" anchor="t"/>
          <a:lstStyle/>
          <a:p>
            <a:pPr marL="0" indent="0" algn="ctr">
              <a:buNone/>
            </a:pPr>
            <a:r>
              <a:rPr lang="en-US" sz="1000" dirty="0">
                <a:solidFill>
                  <a:srgbClr val="D1FAE5"/>
                </a:solidFill>
                <a:latin typeface="Calibri" pitchFamily="34" charset="0"/>
                <a:ea typeface="Calibri" pitchFamily="34" charset="-122"/>
                <a:cs typeface="Calibri" pitchFamily="34" charset="-120"/>
              </a:rPr>
              <a:t>20 banks</a:t>
            </a:r>
            <a:endParaRPr lang="en-US" sz="1000" dirty="0"/>
          </a:p>
          <a:p>
            <a:pPr marL="0" indent="0" algn="ctr">
              <a:buNone/>
            </a:pPr>
            <a:r>
              <a:rPr lang="en-US" sz="1000" dirty="0">
                <a:solidFill>
                  <a:srgbClr val="D1FAE5"/>
                </a:solidFill>
                <a:latin typeface="Calibri" pitchFamily="34" charset="0"/>
                <a:ea typeface="Calibri" pitchFamily="34" charset="-122"/>
                <a:cs typeface="Calibri" pitchFamily="34" charset="-120"/>
              </a:rPr>
              <a:t>PDF / JSON</a:t>
            </a:r>
            <a:endParaRPr lang="en-US" sz="1000" dirty="0"/>
          </a:p>
        </p:txBody>
      </p:sp>
      <p:sp>
        <p:nvSpPr>
          <p:cNvPr id="8" name="Shape 6"/>
          <p:cNvSpPr/>
          <p:nvPr/>
        </p:nvSpPr>
        <p:spPr>
          <a:xfrm>
            <a:off x="1828800" y="2011680"/>
            <a:ext cx="228600" cy="0"/>
          </a:xfrm>
          <a:prstGeom prst="line">
            <a:avLst/>
          </a:prstGeom>
          <a:noFill/>
          <a:ln w="19050">
            <a:solidFill>
              <a:srgbClr val="94A3B8"/>
            </a:solidFill>
            <a:prstDash val="solid"/>
          </a:ln>
        </p:spPr>
      </p:sp>
      <p:sp>
        <p:nvSpPr>
          <p:cNvPr id="9" name="Text 7"/>
          <p:cNvSpPr/>
          <p:nvPr/>
        </p:nvSpPr>
        <p:spPr>
          <a:xfrm>
            <a:off x="1947672" y="1920240"/>
            <a:ext cx="137160" cy="228600"/>
          </a:xfrm>
          <a:prstGeom prst="rect">
            <a:avLst/>
          </a:prstGeom>
          <a:noFill/>
          <a:ln/>
        </p:spPr>
        <p:txBody>
          <a:bodyPr wrap="square" rtlCol="0" anchor="ctr"/>
          <a:lstStyle/>
          <a:p>
            <a:pPr marL="0" indent="0" algn="ctr">
              <a:buNone/>
            </a:pPr>
            <a:r>
              <a:rPr lang="en-US" sz="800" dirty="0">
                <a:solidFill>
                  <a:srgbClr val="94A3B8"/>
                </a:solidFill>
              </a:rPr>
              <a:t>▶</a:t>
            </a:r>
            <a:endParaRPr lang="en-US" sz="800" dirty="0"/>
          </a:p>
        </p:txBody>
      </p:sp>
      <p:sp>
        <p:nvSpPr>
          <p:cNvPr id="10" name="Shape 8"/>
          <p:cNvSpPr/>
          <p:nvPr/>
        </p:nvSpPr>
        <p:spPr>
          <a:xfrm>
            <a:off x="2057400" y="1298448"/>
            <a:ext cx="1508760" cy="1417320"/>
          </a:xfrm>
          <a:prstGeom prst="rect">
            <a:avLst/>
          </a:prstGeom>
          <a:solidFill>
            <a:srgbClr val="075985"/>
          </a:solidFill>
          <a:ln w="12700">
            <a:solidFill>
              <a:srgbClr val="075985"/>
            </a:solidFill>
            <a:prstDash val="solid"/>
          </a:ln>
          <a:effectLst>
            <a:outerShdw blurRad="63500" dist="25400" dir="8100000" algn="bl" rotWithShape="0">
              <a:srgbClr val="000000">
                <a:alpha val="12000"/>
              </a:srgbClr>
            </a:outerShdw>
          </a:effectLst>
        </p:spPr>
      </p:sp>
      <p:sp>
        <p:nvSpPr>
          <p:cNvPr id="11" name="Text 9"/>
          <p:cNvSpPr/>
          <p:nvPr/>
        </p:nvSpPr>
        <p:spPr>
          <a:xfrm>
            <a:off x="2057400" y="1344168"/>
            <a:ext cx="1508760" cy="685800"/>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Text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Chunking</a:t>
            </a:r>
            <a:endParaRPr lang="en-US" sz="1300" dirty="0"/>
          </a:p>
        </p:txBody>
      </p:sp>
      <p:sp>
        <p:nvSpPr>
          <p:cNvPr id="12" name="Text 10"/>
          <p:cNvSpPr/>
          <p:nvPr/>
        </p:nvSpPr>
        <p:spPr>
          <a:xfrm>
            <a:off x="2057400" y="2029968"/>
            <a:ext cx="1508760" cy="594360"/>
          </a:xfrm>
          <a:prstGeom prst="rect">
            <a:avLst/>
          </a:prstGeom>
          <a:noFill/>
          <a:ln/>
        </p:spPr>
        <p:txBody>
          <a:bodyPr wrap="square" rtlCol="0" anchor="t"/>
          <a:lstStyle/>
          <a:p>
            <a:pPr marL="0" indent="0" algn="ctr">
              <a:buNone/>
            </a:pPr>
            <a:r>
              <a:rPr lang="en-US" sz="1000" dirty="0">
                <a:solidFill>
                  <a:srgbClr val="D1FAE5"/>
                </a:solidFill>
                <a:latin typeface="Calibri" pitchFamily="34" charset="0"/>
                <a:ea typeface="Calibri" pitchFamily="34" charset="-122"/>
                <a:cs typeface="Calibri" pitchFamily="34" charset="-120"/>
              </a:rPr>
              <a:t>~300 token</a:t>
            </a:r>
            <a:endParaRPr lang="en-US" sz="1000" dirty="0"/>
          </a:p>
          <a:p>
            <a:pPr marL="0" indent="0" algn="ctr">
              <a:buNone/>
            </a:pPr>
            <a:r>
              <a:rPr lang="en-US" sz="1000" dirty="0">
                <a:solidFill>
                  <a:srgbClr val="D1FAE5"/>
                </a:solidFill>
                <a:latin typeface="Calibri" pitchFamily="34" charset="0"/>
                <a:ea typeface="Calibri" pitchFamily="34" charset="-122"/>
                <a:cs typeface="Calibri" pitchFamily="34" charset="-120"/>
              </a:rPr>
              <a:t>chunks</a:t>
            </a:r>
            <a:endParaRPr lang="en-US" sz="1000" dirty="0"/>
          </a:p>
        </p:txBody>
      </p:sp>
      <p:sp>
        <p:nvSpPr>
          <p:cNvPr id="13" name="Shape 11"/>
          <p:cNvSpPr/>
          <p:nvPr/>
        </p:nvSpPr>
        <p:spPr>
          <a:xfrm>
            <a:off x="3566160" y="2011680"/>
            <a:ext cx="228600" cy="0"/>
          </a:xfrm>
          <a:prstGeom prst="line">
            <a:avLst/>
          </a:prstGeom>
          <a:noFill/>
          <a:ln w="19050">
            <a:solidFill>
              <a:srgbClr val="94A3B8"/>
            </a:solidFill>
            <a:prstDash val="solid"/>
          </a:ln>
        </p:spPr>
      </p:sp>
      <p:sp>
        <p:nvSpPr>
          <p:cNvPr id="14" name="Text 12"/>
          <p:cNvSpPr/>
          <p:nvPr/>
        </p:nvSpPr>
        <p:spPr>
          <a:xfrm>
            <a:off x="3685032" y="1920240"/>
            <a:ext cx="137160" cy="228600"/>
          </a:xfrm>
          <a:prstGeom prst="rect">
            <a:avLst/>
          </a:prstGeom>
          <a:noFill/>
          <a:ln/>
        </p:spPr>
        <p:txBody>
          <a:bodyPr wrap="square" rtlCol="0" anchor="ctr"/>
          <a:lstStyle/>
          <a:p>
            <a:pPr marL="0" indent="0" algn="ctr">
              <a:buNone/>
            </a:pPr>
            <a:r>
              <a:rPr lang="en-US" sz="800" dirty="0">
                <a:solidFill>
                  <a:srgbClr val="94A3B8"/>
                </a:solidFill>
              </a:rPr>
              <a:t>▶</a:t>
            </a:r>
            <a:endParaRPr lang="en-US" sz="800" dirty="0"/>
          </a:p>
        </p:txBody>
      </p:sp>
      <p:sp>
        <p:nvSpPr>
          <p:cNvPr id="15" name="Shape 13"/>
          <p:cNvSpPr/>
          <p:nvPr/>
        </p:nvSpPr>
        <p:spPr>
          <a:xfrm>
            <a:off x="3794760" y="1298448"/>
            <a:ext cx="1508760" cy="1417320"/>
          </a:xfrm>
          <a:prstGeom prst="rect">
            <a:avLst/>
          </a:prstGeom>
          <a:solidFill>
            <a:srgbClr val="047857"/>
          </a:solidFill>
          <a:ln w="12700">
            <a:solidFill>
              <a:srgbClr val="047857"/>
            </a:solidFill>
            <a:prstDash val="solid"/>
          </a:ln>
          <a:effectLst>
            <a:outerShdw blurRad="63500" dist="25400" dir="8100000" algn="bl" rotWithShape="0">
              <a:srgbClr val="000000">
                <a:alpha val="12000"/>
              </a:srgbClr>
            </a:outerShdw>
          </a:effectLst>
        </p:spPr>
      </p:sp>
      <p:sp>
        <p:nvSpPr>
          <p:cNvPr id="16" name="Text 14"/>
          <p:cNvSpPr/>
          <p:nvPr/>
        </p:nvSpPr>
        <p:spPr>
          <a:xfrm>
            <a:off x="3794760" y="1344168"/>
            <a:ext cx="1508760" cy="685800"/>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Embedding</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p:txBody>
      </p:sp>
      <p:sp>
        <p:nvSpPr>
          <p:cNvPr id="17" name="Text 15"/>
          <p:cNvSpPr/>
          <p:nvPr/>
        </p:nvSpPr>
        <p:spPr>
          <a:xfrm>
            <a:off x="3794760" y="2029968"/>
            <a:ext cx="1508760" cy="594360"/>
          </a:xfrm>
          <a:prstGeom prst="rect">
            <a:avLst/>
          </a:prstGeom>
          <a:noFill/>
          <a:ln/>
        </p:spPr>
        <p:txBody>
          <a:bodyPr wrap="square" rtlCol="0" anchor="t"/>
          <a:lstStyle/>
          <a:p>
            <a:pPr marL="0" indent="0" algn="ctr">
              <a:buNone/>
            </a:pPr>
            <a:r>
              <a:rPr lang="en-US" sz="1000" dirty="0">
                <a:solidFill>
                  <a:srgbClr val="D1FAE5"/>
                </a:solidFill>
                <a:latin typeface="Calibri" pitchFamily="34" charset="0"/>
                <a:ea typeface="Calibri" pitchFamily="34" charset="-122"/>
                <a:cs typeface="Calibri" pitchFamily="34" charset="-120"/>
              </a:rPr>
              <a:t>sentence-</a:t>
            </a:r>
            <a:endParaRPr lang="en-US" sz="1000" dirty="0"/>
          </a:p>
          <a:p>
            <a:pPr marL="0" indent="0" algn="ctr">
              <a:buNone/>
            </a:pPr>
            <a:r>
              <a:rPr lang="en-US" sz="1000" dirty="0">
                <a:solidFill>
                  <a:srgbClr val="D1FAE5"/>
                </a:solidFill>
                <a:latin typeface="Calibri" pitchFamily="34" charset="0"/>
                <a:ea typeface="Calibri" pitchFamily="34" charset="-122"/>
                <a:cs typeface="Calibri" pitchFamily="34" charset="-120"/>
              </a:rPr>
              <a:t>transformers</a:t>
            </a:r>
            <a:endParaRPr lang="en-US" sz="1000" dirty="0"/>
          </a:p>
        </p:txBody>
      </p:sp>
      <p:sp>
        <p:nvSpPr>
          <p:cNvPr id="18" name="Shape 16"/>
          <p:cNvSpPr/>
          <p:nvPr/>
        </p:nvSpPr>
        <p:spPr>
          <a:xfrm>
            <a:off x="5303520" y="2011680"/>
            <a:ext cx="228600" cy="0"/>
          </a:xfrm>
          <a:prstGeom prst="line">
            <a:avLst/>
          </a:prstGeom>
          <a:noFill/>
          <a:ln w="19050">
            <a:solidFill>
              <a:srgbClr val="94A3B8"/>
            </a:solidFill>
            <a:prstDash val="solid"/>
          </a:ln>
        </p:spPr>
      </p:sp>
      <p:sp>
        <p:nvSpPr>
          <p:cNvPr id="19" name="Text 17"/>
          <p:cNvSpPr/>
          <p:nvPr/>
        </p:nvSpPr>
        <p:spPr>
          <a:xfrm>
            <a:off x="5422392" y="1920240"/>
            <a:ext cx="137160" cy="228600"/>
          </a:xfrm>
          <a:prstGeom prst="rect">
            <a:avLst/>
          </a:prstGeom>
          <a:noFill/>
          <a:ln/>
        </p:spPr>
        <p:txBody>
          <a:bodyPr wrap="square" rtlCol="0" anchor="ctr"/>
          <a:lstStyle/>
          <a:p>
            <a:pPr marL="0" indent="0" algn="ctr">
              <a:buNone/>
            </a:pPr>
            <a:r>
              <a:rPr lang="en-US" sz="800" dirty="0">
                <a:solidFill>
                  <a:srgbClr val="94A3B8"/>
                </a:solidFill>
              </a:rPr>
              <a:t>▶</a:t>
            </a:r>
            <a:endParaRPr lang="en-US" sz="800" dirty="0"/>
          </a:p>
        </p:txBody>
      </p:sp>
      <p:sp>
        <p:nvSpPr>
          <p:cNvPr id="20" name="Shape 18"/>
          <p:cNvSpPr/>
          <p:nvPr/>
        </p:nvSpPr>
        <p:spPr>
          <a:xfrm>
            <a:off x="5532120" y="1298448"/>
            <a:ext cx="1508760" cy="1417320"/>
          </a:xfrm>
          <a:prstGeom prst="rect">
            <a:avLst/>
          </a:prstGeom>
          <a:solidFill>
            <a:srgbClr val="047857"/>
          </a:solidFill>
          <a:ln w="12700">
            <a:solidFill>
              <a:srgbClr val="047857"/>
            </a:solidFill>
            <a:prstDash val="solid"/>
          </a:ln>
          <a:effectLst>
            <a:outerShdw blurRad="63500" dist="25400" dir="8100000" algn="bl" rotWithShape="0">
              <a:srgbClr val="000000">
                <a:alpha val="12000"/>
              </a:srgbClr>
            </a:outerShdw>
          </a:effectLst>
        </p:spPr>
      </p:sp>
      <p:sp>
        <p:nvSpPr>
          <p:cNvPr id="21" name="Text 19"/>
          <p:cNvSpPr/>
          <p:nvPr/>
        </p:nvSpPr>
        <p:spPr>
          <a:xfrm>
            <a:off x="5532120" y="1344168"/>
            <a:ext cx="1508760" cy="685800"/>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Vector</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Database</a:t>
            </a:r>
            <a:endParaRPr lang="en-US" sz="1300" dirty="0"/>
          </a:p>
        </p:txBody>
      </p:sp>
      <p:sp>
        <p:nvSpPr>
          <p:cNvPr id="22" name="Text 20"/>
          <p:cNvSpPr/>
          <p:nvPr/>
        </p:nvSpPr>
        <p:spPr>
          <a:xfrm>
            <a:off x="5532120" y="2029968"/>
            <a:ext cx="1508760" cy="594360"/>
          </a:xfrm>
          <a:prstGeom prst="rect">
            <a:avLst/>
          </a:prstGeom>
          <a:noFill/>
          <a:ln/>
        </p:spPr>
        <p:txBody>
          <a:bodyPr wrap="square" rtlCol="0" anchor="t"/>
          <a:lstStyle/>
          <a:p>
            <a:pPr marL="0" indent="0" algn="ctr">
              <a:buNone/>
            </a:pPr>
            <a:r>
              <a:rPr lang="en-US" sz="1000" dirty="0">
                <a:solidFill>
                  <a:srgbClr val="D1FAE5"/>
                </a:solidFill>
                <a:latin typeface="Calibri" pitchFamily="34" charset="0"/>
                <a:ea typeface="Calibri" pitchFamily="34" charset="-122"/>
                <a:cs typeface="Calibri" pitchFamily="34" charset="-120"/>
              </a:rPr>
              <a:t>FAISS /</a:t>
            </a:r>
            <a:endParaRPr lang="en-US" sz="1000" dirty="0"/>
          </a:p>
          <a:p>
            <a:pPr marL="0" indent="0" algn="ctr">
              <a:buNone/>
            </a:pPr>
            <a:r>
              <a:rPr lang="en-US" sz="1000" dirty="0">
                <a:solidFill>
                  <a:srgbClr val="D1FAE5"/>
                </a:solidFill>
                <a:latin typeface="Calibri" pitchFamily="34" charset="0"/>
                <a:ea typeface="Calibri" pitchFamily="34" charset="-122"/>
                <a:cs typeface="Calibri" pitchFamily="34" charset="-120"/>
              </a:rPr>
              <a:t>ChromaDB</a:t>
            </a:r>
            <a:endParaRPr lang="en-US" sz="1000" dirty="0"/>
          </a:p>
        </p:txBody>
      </p:sp>
      <p:sp>
        <p:nvSpPr>
          <p:cNvPr id="23" name="Shape 21"/>
          <p:cNvSpPr/>
          <p:nvPr/>
        </p:nvSpPr>
        <p:spPr>
          <a:xfrm>
            <a:off x="7040880" y="2011680"/>
            <a:ext cx="228600" cy="0"/>
          </a:xfrm>
          <a:prstGeom prst="line">
            <a:avLst/>
          </a:prstGeom>
          <a:noFill/>
          <a:ln w="19050">
            <a:solidFill>
              <a:srgbClr val="94A3B8"/>
            </a:solidFill>
            <a:prstDash val="solid"/>
          </a:ln>
        </p:spPr>
      </p:sp>
      <p:sp>
        <p:nvSpPr>
          <p:cNvPr id="24" name="Text 22"/>
          <p:cNvSpPr/>
          <p:nvPr/>
        </p:nvSpPr>
        <p:spPr>
          <a:xfrm>
            <a:off x="7159752" y="1920240"/>
            <a:ext cx="137160" cy="228600"/>
          </a:xfrm>
          <a:prstGeom prst="rect">
            <a:avLst/>
          </a:prstGeom>
          <a:noFill/>
          <a:ln/>
        </p:spPr>
        <p:txBody>
          <a:bodyPr wrap="square" rtlCol="0" anchor="ctr"/>
          <a:lstStyle/>
          <a:p>
            <a:pPr marL="0" indent="0" algn="ctr">
              <a:buNone/>
            </a:pPr>
            <a:r>
              <a:rPr lang="en-US" sz="800" dirty="0">
                <a:solidFill>
                  <a:srgbClr val="94A3B8"/>
                </a:solidFill>
              </a:rPr>
              <a:t>▶</a:t>
            </a:r>
            <a:endParaRPr lang="en-US" sz="800" dirty="0"/>
          </a:p>
        </p:txBody>
      </p:sp>
      <p:sp>
        <p:nvSpPr>
          <p:cNvPr id="25" name="Shape 23"/>
          <p:cNvSpPr/>
          <p:nvPr/>
        </p:nvSpPr>
        <p:spPr>
          <a:xfrm>
            <a:off x="7269480" y="1298448"/>
            <a:ext cx="1508760" cy="1417320"/>
          </a:xfrm>
          <a:prstGeom prst="rect">
            <a:avLst/>
          </a:prstGeom>
          <a:solidFill>
            <a:srgbClr val="92400E"/>
          </a:solidFill>
          <a:ln w="12700">
            <a:solidFill>
              <a:srgbClr val="92400E"/>
            </a:solidFill>
            <a:prstDash val="solid"/>
          </a:ln>
          <a:effectLst>
            <a:outerShdw blurRad="63500" dist="25400" dir="8100000" algn="bl" rotWithShape="0">
              <a:srgbClr val="000000">
                <a:alpha val="12000"/>
              </a:srgbClr>
            </a:outerShdw>
          </a:effectLst>
        </p:spPr>
      </p:sp>
      <p:sp>
        <p:nvSpPr>
          <p:cNvPr id="26" name="Text 24"/>
          <p:cNvSpPr/>
          <p:nvPr/>
        </p:nvSpPr>
        <p:spPr>
          <a:xfrm>
            <a:off x="7269480" y="1344168"/>
            <a:ext cx="1508760" cy="685800"/>
          </a:xfrm>
          <a:prstGeom prst="rect">
            <a:avLst/>
          </a:prstGeom>
          <a:noFill/>
          <a:ln/>
        </p:spPr>
        <p:txBody>
          <a:bodyPr wrap="square" rtlCol="0" anchor="b"/>
          <a:lstStyle/>
          <a:p>
            <a:pPr marL="0" indent="0" algn="ctr">
              <a:buNone/>
            </a:pPr>
            <a:r>
              <a:rPr lang="en-US" sz="1300" b="1" dirty="0">
                <a:solidFill>
                  <a:srgbClr val="FFFFFF"/>
                </a:solidFill>
                <a:latin typeface="Calibri" pitchFamily="34" charset="0"/>
                <a:ea typeface="Calibri" pitchFamily="34" charset="-122"/>
                <a:cs typeface="Calibri" pitchFamily="34" charset="-120"/>
              </a:rPr>
              <a:t>Top-K</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Retrieval</a:t>
            </a:r>
            <a:endParaRPr lang="en-US" sz="1300" dirty="0"/>
          </a:p>
        </p:txBody>
      </p:sp>
      <p:sp>
        <p:nvSpPr>
          <p:cNvPr id="27" name="Text 25"/>
          <p:cNvSpPr/>
          <p:nvPr/>
        </p:nvSpPr>
        <p:spPr>
          <a:xfrm>
            <a:off x="7269480" y="2029968"/>
            <a:ext cx="1508760" cy="594360"/>
          </a:xfrm>
          <a:prstGeom prst="rect">
            <a:avLst/>
          </a:prstGeom>
          <a:noFill/>
          <a:ln/>
        </p:spPr>
        <p:txBody>
          <a:bodyPr wrap="square" rtlCol="0" anchor="t"/>
          <a:lstStyle/>
          <a:p>
            <a:pPr marL="0" indent="0" algn="ctr">
              <a:buNone/>
            </a:pPr>
            <a:r>
              <a:rPr lang="en-US" sz="1000" dirty="0">
                <a:solidFill>
                  <a:srgbClr val="D1FAE5"/>
                </a:solidFill>
                <a:latin typeface="Calibri" pitchFamily="34" charset="0"/>
                <a:ea typeface="Calibri" pitchFamily="34" charset="-122"/>
                <a:cs typeface="Calibri" pitchFamily="34" charset="-120"/>
              </a:rPr>
              <a:t>User profile</a:t>
            </a:r>
            <a:endParaRPr lang="en-US" sz="1000" dirty="0"/>
          </a:p>
          <a:p>
            <a:pPr marL="0" indent="0" algn="ctr">
              <a:buNone/>
            </a:pPr>
            <a:r>
              <a:rPr lang="en-US" sz="1000" dirty="0">
                <a:solidFill>
                  <a:srgbClr val="D1FAE5"/>
                </a:solidFill>
                <a:latin typeface="Calibri" pitchFamily="34" charset="0"/>
                <a:ea typeface="Calibri" pitchFamily="34" charset="-122"/>
                <a:cs typeface="Calibri" pitchFamily="34" charset="-120"/>
              </a:rPr>
              <a:t>matched</a:t>
            </a:r>
            <a:endParaRPr lang="en-US" sz="1000" dirty="0"/>
          </a:p>
        </p:txBody>
      </p:sp>
      <p:sp>
        <p:nvSpPr>
          <p:cNvPr id="28" name="Shape 26"/>
          <p:cNvSpPr/>
          <p:nvPr/>
        </p:nvSpPr>
        <p:spPr>
          <a:xfrm>
            <a:off x="320040" y="2834640"/>
            <a:ext cx="8503920" cy="594360"/>
          </a:xfrm>
          <a:prstGeom prst="rect">
            <a:avLst/>
          </a:prstGeom>
          <a:solidFill>
            <a:srgbClr val="F0FDF4"/>
          </a:solidFill>
          <a:ln w="12700">
            <a:solidFill>
              <a:srgbClr val="86EFAC"/>
            </a:solidFill>
            <a:prstDash val="solid"/>
          </a:ln>
        </p:spPr>
      </p:sp>
      <p:sp>
        <p:nvSpPr>
          <p:cNvPr id="29" name="Text 27"/>
          <p:cNvSpPr/>
          <p:nvPr/>
        </p:nvSpPr>
        <p:spPr>
          <a:xfrm>
            <a:off x="502920" y="2834640"/>
            <a:ext cx="8321040" cy="594360"/>
          </a:xfrm>
          <a:prstGeom prst="rect">
            <a:avLst/>
          </a:prstGeom>
          <a:noFill/>
          <a:ln/>
        </p:spPr>
        <p:txBody>
          <a:bodyPr wrap="square" rtlCol="0" anchor="ctr"/>
          <a:lstStyle/>
          <a:p>
            <a:pPr marL="0" indent="0">
              <a:buNone/>
            </a:pPr>
            <a:r>
              <a:rPr lang="en-US" sz="1200" b="1" dirty="0">
                <a:solidFill>
                  <a:srgbClr val="166534"/>
                </a:solidFill>
                <a:latin typeface="Calibri" pitchFamily="34" charset="0"/>
                <a:ea typeface="Calibri" pitchFamily="34" charset="-122"/>
                <a:cs typeface="Calibri" pitchFamily="34" charset="-120"/>
              </a:rPr>
              <a:t>Output: </a:t>
            </a:r>
            <a:r>
              <a:rPr lang="en-US" sz="1200" dirty="0">
                <a:solidFill>
                  <a:srgbClr val="166534"/>
                </a:solidFill>
                <a:latin typeface="Calibri" pitchFamily="34" charset="0"/>
                <a:ea typeface="Calibri" pitchFamily="34" charset="-122"/>
                <a:cs typeface="Calibri" pitchFamily="34" charset="-120"/>
              </a:rPr>
              <a:t>Best-matching banks  ·  Interest rate comparison  ·  Required documents  ·  Personalized LLM-generated recommendation</a:t>
            </a:r>
            <a:endParaRPr lang="en-US" sz="1200" dirty="0"/>
          </a:p>
        </p:txBody>
      </p:sp>
      <p:sp>
        <p:nvSpPr>
          <p:cNvPr id="30" name="Shape 28"/>
          <p:cNvSpPr/>
          <p:nvPr/>
        </p:nvSpPr>
        <p:spPr>
          <a:xfrm>
            <a:off x="320040" y="3547872"/>
            <a:ext cx="8503920" cy="1325880"/>
          </a:xfrm>
          <a:prstGeom prst="rect">
            <a:avLst/>
          </a:prstGeom>
          <a:solidFill>
            <a:srgbClr val="FFFBEB"/>
          </a:solidFill>
          <a:ln w="12700">
            <a:solidFill>
              <a:srgbClr val="FDE68A"/>
            </a:solidFill>
            <a:prstDash val="solid"/>
          </a:ln>
        </p:spPr>
      </p:sp>
      <p:sp>
        <p:nvSpPr>
          <p:cNvPr id="31" name="Text 29"/>
          <p:cNvSpPr/>
          <p:nvPr/>
        </p:nvSpPr>
        <p:spPr>
          <a:xfrm>
            <a:off x="502920" y="3547872"/>
            <a:ext cx="8321040" cy="1325880"/>
          </a:xfrm>
          <a:prstGeom prst="rect">
            <a:avLst/>
          </a:prstGeom>
          <a:noFill/>
          <a:ln/>
        </p:spPr>
        <p:txBody>
          <a:bodyPr wrap="square" rtlCol="0" anchor="ctr"/>
          <a:lstStyle/>
          <a:p>
            <a:pPr marL="0" indent="0">
              <a:buNone/>
            </a:pPr>
            <a:r>
              <a:rPr lang="en-US" sz="1100" b="1" dirty="0">
                <a:solidFill>
                  <a:srgbClr val="92400E"/>
                </a:solidFill>
                <a:latin typeface="Calibri" pitchFamily="34" charset="0"/>
                <a:ea typeface="Calibri" pitchFamily="34" charset="-122"/>
                <a:cs typeface="Calibri" pitchFamily="34" charset="-120"/>
              </a:rPr>
              <a:t>Key Design Decision:  </a:t>
            </a:r>
            <a:r>
              <a:rPr lang="en-US" sz="1100" dirty="0">
                <a:solidFill>
                  <a:srgbClr val="78350F"/>
                </a:solidFill>
                <a:latin typeface="Calibri" pitchFamily="34" charset="0"/>
                <a:ea typeface="Calibri" pitchFamily="34" charset="-122"/>
                <a:cs typeface="Calibri" pitchFamily="34" charset="-120"/>
              </a:rPr>
              <a:t>The existing Random Forest model is NOT retrained on policy text. RAG is a completely separate pipeline that retrieves relevant policy chunks using vector similarity, then passes them to an LLM to generate personalised bank recommendations. The ML model handles approval probability. Both systems work together to give the user a complete picture.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28D9"/>
          </a:solidFill>
          <a:ln w="12700">
            <a:solidFill>
              <a:srgbClr val="6D28D9"/>
            </a:solidFill>
            <a:prstDash val="solid"/>
          </a:ln>
        </p:spPr>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Chatbot Design  —  Hybrid Approach</a:t>
            </a:r>
            <a:endParaRPr lang="en-US" sz="2800" dirty="0"/>
          </a:p>
        </p:txBody>
      </p:sp>
      <p:sp>
        <p:nvSpPr>
          <p:cNvPr id="4" name="Shape 2"/>
          <p:cNvSpPr/>
          <p:nvPr/>
        </p:nvSpPr>
        <p:spPr>
          <a:xfrm>
            <a:off x="274320" y="914400"/>
            <a:ext cx="4023360" cy="3977640"/>
          </a:xfrm>
          <a:prstGeom prst="rect">
            <a:avLst/>
          </a:prstGeom>
          <a:solidFill>
            <a:srgbClr val="F5F3FF"/>
          </a:solidFill>
          <a:ln w="12700">
            <a:solidFill>
              <a:srgbClr val="DDD6FE"/>
            </a:solidFill>
            <a:prstDash val="solid"/>
          </a:ln>
        </p:spPr>
      </p:sp>
      <p:sp>
        <p:nvSpPr>
          <p:cNvPr id="5" name="Shape 3"/>
          <p:cNvSpPr/>
          <p:nvPr/>
        </p:nvSpPr>
        <p:spPr>
          <a:xfrm>
            <a:off x="274320" y="914400"/>
            <a:ext cx="4023360" cy="502920"/>
          </a:xfrm>
          <a:prstGeom prst="rect">
            <a:avLst/>
          </a:prstGeom>
          <a:solidFill>
            <a:srgbClr val="7C3AED"/>
          </a:solidFill>
          <a:ln w="12700">
            <a:solidFill>
              <a:srgbClr val="7C3AED"/>
            </a:solidFill>
            <a:prstDash val="solid"/>
          </a:ln>
        </p:spPr>
      </p:sp>
      <p:sp>
        <p:nvSpPr>
          <p:cNvPr id="6" name="Text 4"/>
          <p:cNvSpPr/>
          <p:nvPr/>
        </p:nvSpPr>
        <p:spPr>
          <a:xfrm>
            <a:off x="274320" y="914400"/>
            <a:ext cx="40233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Rule-Based NLP  (Free)</a:t>
            </a:r>
            <a:endParaRPr lang="en-US" sz="1400" dirty="0"/>
          </a:p>
        </p:txBody>
      </p:sp>
      <p:sp>
        <p:nvSpPr>
          <p:cNvPr id="7" name="Text 5"/>
          <p:cNvSpPr/>
          <p:nvPr/>
        </p:nvSpPr>
        <p:spPr>
          <a:xfrm>
            <a:off x="457200" y="1508760"/>
            <a:ext cx="3657600" cy="3246120"/>
          </a:xfrm>
          <a:prstGeom prst="rect">
            <a:avLst/>
          </a:prstGeom>
          <a:noFill/>
          <a:ln/>
        </p:spPr>
        <p:txBody>
          <a:bodyPr wrap="square" rtlCol="0" anchor="ctr"/>
          <a:lstStyle/>
          <a:p>
            <a:pPr marL="342900" indent="-342900">
              <a:buSzPct val="100000"/>
              <a:buChar char="•"/>
            </a:pPr>
            <a:r>
              <a:rPr lang="en-US" sz="1300" dirty="0">
                <a:solidFill>
                  <a:srgbClr val="4C1D95"/>
                </a:solidFill>
                <a:latin typeface="Calibri" pitchFamily="34" charset="0"/>
                <a:ea typeface="Calibri" pitchFamily="34" charset="-122"/>
                <a:cs typeface="Calibri" pitchFamily="34" charset="-120"/>
              </a:rPr>
              <a:t>Handles EMI queries → triggers calculator</a:t>
            </a:r>
            <a:endParaRPr lang="en-US" sz="1300" dirty="0"/>
          </a:p>
          <a:p>
            <a:pPr marL="342900" indent="-342900">
              <a:buSzPct val="100000"/>
              <a:buChar char="•"/>
            </a:pPr>
            <a:r>
              <a:rPr lang="en-US" sz="1300" dirty="0">
                <a:solidFill>
                  <a:srgbClr val="4C1D95"/>
                </a:solidFill>
                <a:latin typeface="Calibri" pitchFamily="34" charset="0"/>
                <a:ea typeface="Calibri" pitchFamily="34" charset="-122"/>
                <a:cs typeface="Calibri" pitchFamily="34" charset="-120"/>
              </a:rPr>
              <a:t>Handles eligibility → triggers ML model</a:t>
            </a:r>
            <a:endParaRPr lang="en-US" sz="1300" dirty="0"/>
          </a:p>
          <a:p>
            <a:pPr marL="342900" indent="-342900">
              <a:buSzPct val="100000"/>
              <a:buChar char="•"/>
            </a:pPr>
            <a:r>
              <a:rPr lang="en-US" sz="1300" dirty="0">
                <a:solidFill>
                  <a:srgbClr val="4C1D95"/>
                </a:solidFill>
                <a:latin typeface="Calibri" pitchFamily="34" charset="0"/>
                <a:ea typeface="Calibri" pitchFamily="34" charset="-122"/>
                <a:cs typeface="Calibri" pitchFamily="34" charset="-120"/>
              </a:rPr>
              <a:t>Handles bank policy questions via RAG</a:t>
            </a:r>
            <a:endParaRPr lang="en-US" sz="1300" dirty="0"/>
          </a:p>
          <a:p>
            <a:pPr marL="342900" indent="-342900">
              <a:buSzPct val="100000"/>
              <a:buChar char="•"/>
            </a:pPr>
            <a:r>
              <a:rPr lang="en-US" sz="1300" dirty="0">
                <a:solidFill>
                  <a:srgbClr val="4C1D95"/>
                </a:solidFill>
                <a:latin typeface="Calibri" pitchFamily="34" charset="0"/>
                <a:ea typeface="Calibri" pitchFamily="34" charset="-122"/>
                <a:cs typeface="Calibri" pitchFamily="34" charset="-120"/>
              </a:rPr>
              <a:t>Greetings, farewells, basic help</a:t>
            </a:r>
            <a:endParaRPr lang="en-US" sz="1300" dirty="0"/>
          </a:p>
          <a:p>
            <a:pPr marL="342900" indent="-342900">
              <a:buSzPct val="100000"/>
              <a:buChar char="•"/>
            </a:pPr>
            <a:r>
              <a:rPr lang="en-US" sz="1300" dirty="0">
                <a:solidFill>
                  <a:srgbClr val="4C1D95"/>
                </a:solidFill>
                <a:latin typeface="Calibri" pitchFamily="34" charset="0"/>
                <a:ea typeface="Calibri" pitchFamily="34" charset="-122"/>
                <a:cs typeface="Calibri" pitchFamily="34" charset="-120"/>
              </a:rPr>
              <a:t>100% free — zero API cost</a:t>
            </a:r>
            <a:endParaRPr lang="en-US" sz="1300" dirty="0"/>
          </a:p>
          <a:p>
            <a:pPr marL="342900" indent="-342900">
              <a:buSzPct val="100000"/>
              <a:buChar char="•"/>
            </a:pPr>
            <a:r>
              <a:rPr lang="en-US" sz="1300" dirty="0">
                <a:solidFill>
                  <a:srgbClr val="4C1D95"/>
                </a:solidFill>
                <a:latin typeface="Calibri" pitchFamily="34" charset="0"/>
                <a:ea typeface="Calibri" pitchFamily="34" charset="-122"/>
                <a:cs typeface="Calibri" pitchFamily="34" charset="-120"/>
              </a:rPr>
              <a:t>Works offline, fast response</a:t>
            </a:r>
            <a:endParaRPr lang="en-US" sz="1300" dirty="0"/>
          </a:p>
          <a:p>
            <a:pPr marL="342900" indent="-342900">
              <a:buSzPct val="100000"/>
              <a:buChar char="•"/>
            </a:pPr>
            <a:r>
              <a:rPr lang="en-US" sz="1300" dirty="0">
                <a:solidFill>
                  <a:srgbClr val="4C1D95"/>
                </a:solidFill>
                <a:latin typeface="Calibri" pitchFamily="34" charset="0"/>
                <a:ea typeface="Calibri" pitchFamily="34" charset="-122"/>
                <a:cs typeface="Calibri" pitchFamily="34" charset="-120"/>
              </a:rPr>
              <a:t>Covers ~80% of all user queries</a:t>
            </a:r>
            <a:endParaRPr lang="en-US" sz="1300" dirty="0"/>
          </a:p>
        </p:txBody>
      </p:sp>
      <p:sp>
        <p:nvSpPr>
          <p:cNvPr id="8" name="Shape 6"/>
          <p:cNvSpPr/>
          <p:nvPr/>
        </p:nvSpPr>
        <p:spPr>
          <a:xfrm>
            <a:off x="4572000" y="914400"/>
            <a:ext cx="4297680" cy="3977640"/>
          </a:xfrm>
          <a:prstGeom prst="rect">
            <a:avLst/>
          </a:prstGeom>
          <a:solidFill>
            <a:srgbClr val="F0F9FF"/>
          </a:solidFill>
          <a:ln w="12700">
            <a:solidFill>
              <a:srgbClr val="BAE6FD"/>
            </a:solidFill>
            <a:prstDash val="solid"/>
          </a:ln>
        </p:spPr>
      </p:sp>
      <p:sp>
        <p:nvSpPr>
          <p:cNvPr id="9" name="Shape 7"/>
          <p:cNvSpPr/>
          <p:nvPr/>
        </p:nvSpPr>
        <p:spPr>
          <a:xfrm>
            <a:off x="4572000" y="914400"/>
            <a:ext cx="4297680" cy="502920"/>
          </a:xfrm>
          <a:prstGeom prst="rect">
            <a:avLst/>
          </a:prstGeom>
          <a:solidFill>
            <a:srgbClr val="0891B2"/>
          </a:solidFill>
          <a:ln w="12700">
            <a:solidFill>
              <a:srgbClr val="0891B2"/>
            </a:solidFill>
            <a:prstDash val="solid"/>
          </a:ln>
        </p:spPr>
      </p:sp>
      <p:sp>
        <p:nvSpPr>
          <p:cNvPr id="10" name="Text 8"/>
          <p:cNvSpPr/>
          <p:nvPr/>
        </p:nvSpPr>
        <p:spPr>
          <a:xfrm>
            <a:off x="4572000" y="914400"/>
            <a:ext cx="429768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LLM API Fallback  (Gemini)</a:t>
            </a:r>
            <a:endParaRPr lang="en-US" sz="1400" dirty="0"/>
          </a:p>
        </p:txBody>
      </p:sp>
      <p:sp>
        <p:nvSpPr>
          <p:cNvPr id="11" name="Text 9"/>
          <p:cNvSpPr/>
          <p:nvPr/>
        </p:nvSpPr>
        <p:spPr>
          <a:xfrm>
            <a:off x="4754880" y="1508760"/>
            <a:ext cx="3931920" cy="3246120"/>
          </a:xfrm>
          <a:prstGeom prst="rect">
            <a:avLst/>
          </a:prstGeom>
          <a:noFill/>
          <a:ln/>
        </p:spPr>
        <p:txBody>
          <a:bodyPr wrap="square" rtlCol="0" anchor="ctr"/>
          <a:lstStyle/>
          <a:p>
            <a:pPr marL="342900" indent="-342900">
              <a:buSzPct val="100000"/>
              <a:buChar char="•"/>
            </a:pPr>
            <a:r>
              <a:rPr lang="en-US" sz="1300" dirty="0">
                <a:solidFill>
                  <a:srgbClr val="0C4A6E"/>
                </a:solidFill>
                <a:latin typeface="Calibri" pitchFamily="34" charset="0"/>
                <a:ea typeface="Calibri" pitchFamily="34" charset="-122"/>
                <a:cs typeface="Calibri" pitchFamily="34" charset="-120"/>
              </a:rPr>
              <a:t>Handles complex financial questions</a:t>
            </a:r>
            <a:endParaRPr lang="en-US" sz="1300" dirty="0"/>
          </a:p>
          <a:p>
            <a:pPr marL="342900" indent="-342900">
              <a:buSzPct val="100000"/>
              <a:buChar char="•"/>
            </a:pPr>
            <a:r>
              <a:rPr lang="en-US" sz="1300" dirty="0">
                <a:solidFill>
                  <a:srgbClr val="0C4A6E"/>
                </a:solidFill>
                <a:latin typeface="Calibri" pitchFamily="34" charset="0"/>
                <a:ea typeface="Calibri" pitchFamily="34" charset="-122"/>
                <a:cs typeface="Calibri" pitchFamily="34" charset="-120"/>
              </a:rPr>
              <a:t>Powered by Gemini API (free tier)</a:t>
            </a:r>
            <a:endParaRPr lang="en-US" sz="1300" dirty="0"/>
          </a:p>
          <a:p>
            <a:pPr marL="342900" indent="-342900">
              <a:buSzPct val="100000"/>
              <a:buChar char="•"/>
            </a:pPr>
            <a:r>
              <a:rPr lang="en-US" sz="1300" dirty="0">
                <a:solidFill>
                  <a:srgbClr val="0C4A6E"/>
                </a:solidFill>
                <a:latin typeface="Calibri" pitchFamily="34" charset="0"/>
                <a:ea typeface="Calibri" pitchFamily="34" charset="-122"/>
                <a:cs typeface="Calibri" pitchFamily="34" charset="-120"/>
              </a:rPr>
              <a:t>Uses RAG context for bank questions</a:t>
            </a:r>
            <a:endParaRPr lang="en-US" sz="1300" dirty="0"/>
          </a:p>
          <a:p>
            <a:pPr marL="342900" indent="-342900">
              <a:buSzPct val="100000"/>
              <a:buChar char="•"/>
            </a:pPr>
            <a:r>
              <a:rPr lang="en-US" sz="1300" dirty="0">
                <a:solidFill>
                  <a:srgbClr val="0C4A6E"/>
                </a:solidFill>
                <a:latin typeface="Calibri" pitchFamily="34" charset="0"/>
                <a:ea typeface="Calibri" pitchFamily="34" charset="-122"/>
                <a:cs typeface="Calibri" pitchFamily="34" charset="-120"/>
              </a:rPr>
              <a:t>Maintains full conversation history</a:t>
            </a:r>
            <a:endParaRPr lang="en-US" sz="1300" dirty="0"/>
          </a:p>
          <a:p>
            <a:pPr marL="342900" indent="-342900">
              <a:buSzPct val="100000"/>
              <a:buChar char="•"/>
            </a:pPr>
            <a:r>
              <a:rPr lang="en-US" sz="1300" dirty="0">
                <a:solidFill>
                  <a:srgbClr val="0C4A6E"/>
                </a:solidFill>
                <a:latin typeface="Calibri" pitchFamily="34" charset="0"/>
                <a:ea typeface="Calibri" pitchFamily="34" charset="-122"/>
                <a:cs typeface="Calibri" pitchFamily="34" charset="-120"/>
              </a:rPr>
              <a:t>Only fires for unrecognised queries</a:t>
            </a:r>
            <a:endParaRPr lang="en-US" sz="1300" dirty="0"/>
          </a:p>
          <a:p>
            <a:pPr marL="342900" indent="-342900">
              <a:buSzPct val="100000"/>
              <a:buChar char="•"/>
            </a:pPr>
            <a:r>
              <a:rPr lang="en-US" sz="1300" dirty="0">
                <a:solidFill>
                  <a:srgbClr val="0C4A6E"/>
                </a:solidFill>
                <a:latin typeface="Calibri" pitchFamily="34" charset="0"/>
                <a:ea typeface="Calibri" pitchFamily="34" charset="-122"/>
                <a:cs typeface="Calibri" pitchFamily="34" charset="-120"/>
              </a:rPr>
              <a:t>Minimal cost — ~20% of queries</a:t>
            </a:r>
            <a:endParaRPr lang="en-US" sz="1300" dirty="0"/>
          </a:p>
          <a:p>
            <a:pPr marL="342900" indent="-342900">
              <a:buSzPct val="100000"/>
              <a:buChar char="•"/>
            </a:pPr>
            <a:r>
              <a:rPr lang="en-US" sz="1300" dirty="0">
                <a:solidFill>
                  <a:srgbClr val="0C4A6E"/>
                </a:solidFill>
                <a:latin typeface="Calibri" pitchFamily="34" charset="0"/>
                <a:ea typeface="Calibri" pitchFamily="34" charset="-122"/>
                <a:cs typeface="Calibri" pitchFamily="34" charset="-120"/>
              </a:rPr>
              <a:t>Easily swappable to OpenAI / Claude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1B2A"/>
          </a:solidFill>
          <a:ln w="12700">
            <a:solidFill>
              <a:srgbClr val="0D1B2A"/>
            </a:solidFill>
            <a:prstDash val="solid"/>
          </a:ln>
        </p:spPr>
      </p:sp>
      <p:sp>
        <p:nvSpPr>
          <p:cNvPr id="3" name="Text 1"/>
          <p:cNvSpPr/>
          <p:nvPr/>
        </p:nvSpPr>
        <p:spPr>
          <a:xfrm>
            <a:off x="365760" y="0"/>
            <a:ext cx="8229600" cy="82296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Technology Stack</a:t>
            </a:r>
            <a:endParaRPr lang="en-US" sz="2800" dirty="0"/>
          </a:p>
        </p:txBody>
      </p:sp>
      <p:sp>
        <p:nvSpPr>
          <p:cNvPr id="4" name="Shape 2"/>
          <p:cNvSpPr/>
          <p:nvPr/>
        </p:nvSpPr>
        <p:spPr>
          <a:xfrm>
            <a:off x="274320" y="932688"/>
            <a:ext cx="1325880" cy="621792"/>
          </a:xfrm>
          <a:prstGeom prst="rect">
            <a:avLst/>
          </a:prstGeom>
          <a:solidFill>
            <a:srgbClr val="0891B2"/>
          </a:solidFill>
          <a:ln w="12700">
            <a:solidFill>
              <a:srgbClr val="0891B2"/>
            </a:solidFill>
            <a:prstDash val="solid"/>
          </a:ln>
        </p:spPr>
      </p:sp>
      <p:sp>
        <p:nvSpPr>
          <p:cNvPr id="5" name="Text 3"/>
          <p:cNvSpPr/>
          <p:nvPr/>
        </p:nvSpPr>
        <p:spPr>
          <a:xfrm>
            <a:off x="274320" y="932688"/>
            <a:ext cx="1325880"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Frontend</a:t>
            </a:r>
            <a:endParaRPr lang="en-US" sz="1300" dirty="0"/>
          </a:p>
        </p:txBody>
      </p:sp>
      <p:sp>
        <p:nvSpPr>
          <p:cNvPr id="6" name="Shape 4"/>
          <p:cNvSpPr/>
          <p:nvPr/>
        </p:nvSpPr>
        <p:spPr>
          <a:xfrm>
            <a:off x="1737360" y="1014984"/>
            <a:ext cx="1691640" cy="438912"/>
          </a:xfrm>
          <a:prstGeom prst="rect">
            <a:avLst/>
          </a:prstGeom>
          <a:solidFill>
            <a:srgbClr val="FFFFFF"/>
          </a:solidFill>
          <a:ln w="12700">
            <a:solidFill>
              <a:srgbClr val="0891B2"/>
            </a:solidFill>
            <a:prstDash val="solid"/>
          </a:ln>
        </p:spPr>
      </p:sp>
      <p:sp>
        <p:nvSpPr>
          <p:cNvPr id="7" name="Text 5"/>
          <p:cNvSpPr/>
          <p:nvPr/>
        </p:nvSpPr>
        <p:spPr>
          <a:xfrm>
            <a:off x="1737360" y="1014984"/>
            <a:ext cx="1691640" cy="438912"/>
          </a:xfrm>
          <a:prstGeom prst="rect">
            <a:avLst/>
          </a:prstGeom>
          <a:noFill/>
          <a:ln/>
        </p:spPr>
        <p:txBody>
          <a:bodyPr wrap="square"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React.js</a:t>
            </a:r>
            <a:endParaRPr lang="en-US" sz="1100" dirty="0"/>
          </a:p>
        </p:txBody>
      </p:sp>
      <p:sp>
        <p:nvSpPr>
          <p:cNvPr id="8" name="Shape 6"/>
          <p:cNvSpPr/>
          <p:nvPr/>
        </p:nvSpPr>
        <p:spPr>
          <a:xfrm>
            <a:off x="3566160" y="1014984"/>
            <a:ext cx="1691640" cy="438912"/>
          </a:xfrm>
          <a:prstGeom prst="rect">
            <a:avLst/>
          </a:prstGeom>
          <a:solidFill>
            <a:srgbClr val="FFFFFF"/>
          </a:solidFill>
          <a:ln w="12700">
            <a:solidFill>
              <a:srgbClr val="0891B2"/>
            </a:solidFill>
            <a:prstDash val="solid"/>
          </a:ln>
        </p:spPr>
      </p:sp>
      <p:sp>
        <p:nvSpPr>
          <p:cNvPr id="9" name="Text 7"/>
          <p:cNvSpPr/>
          <p:nvPr/>
        </p:nvSpPr>
        <p:spPr>
          <a:xfrm>
            <a:off x="3566160" y="1014984"/>
            <a:ext cx="1691640" cy="438912"/>
          </a:xfrm>
          <a:prstGeom prst="rect">
            <a:avLst/>
          </a:prstGeom>
          <a:noFill/>
          <a:ln/>
        </p:spPr>
        <p:txBody>
          <a:bodyPr wrap="square"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Tailwind CSS</a:t>
            </a:r>
            <a:endParaRPr lang="en-US" sz="1100" dirty="0"/>
          </a:p>
        </p:txBody>
      </p:sp>
      <p:sp>
        <p:nvSpPr>
          <p:cNvPr id="10" name="Shape 8"/>
          <p:cNvSpPr/>
          <p:nvPr/>
        </p:nvSpPr>
        <p:spPr>
          <a:xfrm>
            <a:off x="5394960" y="1014984"/>
            <a:ext cx="1691640" cy="438912"/>
          </a:xfrm>
          <a:prstGeom prst="rect">
            <a:avLst/>
          </a:prstGeom>
          <a:solidFill>
            <a:srgbClr val="FFFFFF"/>
          </a:solidFill>
          <a:ln w="12700">
            <a:solidFill>
              <a:srgbClr val="0891B2"/>
            </a:solidFill>
            <a:prstDash val="solid"/>
          </a:ln>
        </p:spPr>
      </p:sp>
      <p:sp>
        <p:nvSpPr>
          <p:cNvPr id="11" name="Text 9"/>
          <p:cNvSpPr/>
          <p:nvPr/>
        </p:nvSpPr>
        <p:spPr>
          <a:xfrm>
            <a:off x="5394960" y="1014984"/>
            <a:ext cx="1691640" cy="438912"/>
          </a:xfrm>
          <a:prstGeom prst="rect">
            <a:avLst/>
          </a:prstGeom>
          <a:noFill/>
          <a:ln/>
        </p:spPr>
        <p:txBody>
          <a:bodyPr wrap="square"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Recharts</a:t>
            </a:r>
            <a:endParaRPr lang="en-US" sz="1100" dirty="0"/>
          </a:p>
        </p:txBody>
      </p:sp>
      <p:sp>
        <p:nvSpPr>
          <p:cNvPr id="12" name="Shape 10"/>
          <p:cNvSpPr/>
          <p:nvPr/>
        </p:nvSpPr>
        <p:spPr>
          <a:xfrm>
            <a:off x="7223760" y="1014984"/>
            <a:ext cx="1691640" cy="438912"/>
          </a:xfrm>
          <a:prstGeom prst="rect">
            <a:avLst/>
          </a:prstGeom>
          <a:solidFill>
            <a:srgbClr val="FFFFFF"/>
          </a:solidFill>
          <a:ln w="12700">
            <a:solidFill>
              <a:srgbClr val="0891B2"/>
            </a:solidFill>
            <a:prstDash val="solid"/>
          </a:ln>
        </p:spPr>
      </p:sp>
      <p:sp>
        <p:nvSpPr>
          <p:cNvPr id="13" name="Text 11"/>
          <p:cNvSpPr/>
          <p:nvPr/>
        </p:nvSpPr>
        <p:spPr>
          <a:xfrm>
            <a:off x="7223760" y="1014984"/>
            <a:ext cx="1691640" cy="438912"/>
          </a:xfrm>
          <a:prstGeom prst="rect">
            <a:avLst/>
          </a:prstGeom>
          <a:noFill/>
          <a:ln/>
        </p:spPr>
        <p:txBody>
          <a:bodyPr wrap="square" rtlCol="0" anchor="ctr"/>
          <a:lstStyle/>
          <a:p>
            <a:pPr marL="0" indent="0" algn="ctr">
              <a:buNone/>
            </a:pPr>
            <a:r>
              <a:rPr lang="en-US" sz="1100" b="1" dirty="0">
                <a:solidFill>
                  <a:srgbClr val="0891B2"/>
                </a:solidFill>
                <a:latin typeface="Calibri" pitchFamily="34" charset="0"/>
                <a:ea typeface="Calibri" pitchFamily="34" charset="-122"/>
                <a:cs typeface="Calibri" pitchFamily="34" charset="-120"/>
              </a:rPr>
              <a:t>Firebase Web SDK</a:t>
            </a:r>
            <a:endParaRPr lang="en-US" sz="1100" dirty="0"/>
          </a:p>
        </p:txBody>
      </p:sp>
      <p:sp>
        <p:nvSpPr>
          <p:cNvPr id="14" name="Shape 12"/>
          <p:cNvSpPr/>
          <p:nvPr/>
        </p:nvSpPr>
        <p:spPr>
          <a:xfrm>
            <a:off x="274320" y="1737360"/>
            <a:ext cx="1325880" cy="621792"/>
          </a:xfrm>
          <a:prstGeom prst="rect">
            <a:avLst/>
          </a:prstGeom>
          <a:solidFill>
            <a:srgbClr val="065A82"/>
          </a:solidFill>
          <a:ln w="12700">
            <a:solidFill>
              <a:srgbClr val="065A82"/>
            </a:solidFill>
            <a:prstDash val="solid"/>
          </a:ln>
        </p:spPr>
      </p:sp>
      <p:sp>
        <p:nvSpPr>
          <p:cNvPr id="15" name="Text 13"/>
          <p:cNvSpPr/>
          <p:nvPr/>
        </p:nvSpPr>
        <p:spPr>
          <a:xfrm>
            <a:off x="274320" y="1737360"/>
            <a:ext cx="1325880"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Backend</a:t>
            </a:r>
            <a:endParaRPr lang="en-US" sz="1300" dirty="0"/>
          </a:p>
        </p:txBody>
      </p:sp>
      <p:sp>
        <p:nvSpPr>
          <p:cNvPr id="16" name="Shape 14"/>
          <p:cNvSpPr/>
          <p:nvPr/>
        </p:nvSpPr>
        <p:spPr>
          <a:xfrm>
            <a:off x="1737360" y="1819656"/>
            <a:ext cx="1691640" cy="438912"/>
          </a:xfrm>
          <a:prstGeom prst="rect">
            <a:avLst/>
          </a:prstGeom>
          <a:solidFill>
            <a:srgbClr val="FFFFFF"/>
          </a:solidFill>
          <a:ln w="12700">
            <a:solidFill>
              <a:srgbClr val="065A82"/>
            </a:solidFill>
            <a:prstDash val="solid"/>
          </a:ln>
        </p:spPr>
      </p:sp>
      <p:sp>
        <p:nvSpPr>
          <p:cNvPr id="17" name="Text 15"/>
          <p:cNvSpPr/>
          <p:nvPr/>
        </p:nvSpPr>
        <p:spPr>
          <a:xfrm>
            <a:off x="1737360" y="1819656"/>
            <a:ext cx="1691640" cy="438912"/>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Python Flask</a:t>
            </a:r>
            <a:endParaRPr lang="en-US" sz="1100" dirty="0"/>
          </a:p>
        </p:txBody>
      </p:sp>
      <p:sp>
        <p:nvSpPr>
          <p:cNvPr id="18" name="Shape 16"/>
          <p:cNvSpPr/>
          <p:nvPr/>
        </p:nvSpPr>
        <p:spPr>
          <a:xfrm>
            <a:off x="3566160" y="1819656"/>
            <a:ext cx="1691640" cy="438912"/>
          </a:xfrm>
          <a:prstGeom prst="rect">
            <a:avLst/>
          </a:prstGeom>
          <a:solidFill>
            <a:srgbClr val="FFFFFF"/>
          </a:solidFill>
          <a:ln w="12700">
            <a:solidFill>
              <a:srgbClr val="065A82"/>
            </a:solidFill>
            <a:prstDash val="solid"/>
          </a:ln>
        </p:spPr>
      </p:sp>
      <p:sp>
        <p:nvSpPr>
          <p:cNvPr id="19" name="Text 17"/>
          <p:cNvSpPr/>
          <p:nvPr/>
        </p:nvSpPr>
        <p:spPr>
          <a:xfrm>
            <a:off x="3566160" y="1819656"/>
            <a:ext cx="1691640" cy="438912"/>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REST API</a:t>
            </a:r>
            <a:endParaRPr lang="en-US" sz="1100" dirty="0"/>
          </a:p>
        </p:txBody>
      </p:sp>
      <p:sp>
        <p:nvSpPr>
          <p:cNvPr id="20" name="Shape 18"/>
          <p:cNvSpPr/>
          <p:nvPr/>
        </p:nvSpPr>
        <p:spPr>
          <a:xfrm>
            <a:off x="5394960" y="1819656"/>
            <a:ext cx="1691640" cy="438912"/>
          </a:xfrm>
          <a:prstGeom prst="rect">
            <a:avLst/>
          </a:prstGeom>
          <a:solidFill>
            <a:srgbClr val="FFFFFF"/>
          </a:solidFill>
          <a:ln w="12700">
            <a:solidFill>
              <a:srgbClr val="065A82"/>
            </a:solidFill>
            <a:prstDash val="solid"/>
          </a:ln>
        </p:spPr>
      </p:sp>
      <p:sp>
        <p:nvSpPr>
          <p:cNvPr id="21" name="Text 19"/>
          <p:cNvSpPr/>
          <p:nvPr/>
        </p:nvSpPr>
        <p:spPr>
          <a:xfrm>
            <a:off x="5394960" y="1819656"/>
            <a:ext cx="1691640" cy="438912"/>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JWT Auth</a:t>
            </a:r>
            <a:endParaRPr lang="en-US" sz="1100" dirty="0"/>
          </a:p>
        </p:txBody>
      </p:sp>
      <p:sp>
        <p:nvSpPr>
          <p:cNvPr id="22" name="Shape 20"/>
          <p:cNvSpPr/>
          <p:nvPr/>
        </p:nvSpPr>
        <p:spPr>
          <a:xfrm>
            <a:off x="7223760" y="1819656"/>
            <a:ext cx="1691640" cy="438912"/>
          </a:xfrm>
          <a:prstGeom prst="rect">
            <a:avLst/>
          </a:prstGeom>
          <a:solidFill>
            <a:srgbClr val="FFFFFF"/>
          </a:solidFill>
          <a:ln w="12700">
            <a:solidFill>
              <a:srgbClr val="065A82"/>
            </a:solidFill>
            <a:prstDash val="solid"/>
          </a:ln>
        </p:spPr>
      </p:sp>
      <p:sp>
        <p:nvSpPr>
          <p:cNvPr id="23" name="Text 21"/>
          <p:cNvSpPr/>
          <p:nvPr/>
        </p:nvSpPr>
        <p:spPr>
          <a:xfrm>
            <a:off x="7223760" y="1819656"/>
            <a:ext cx="1691640" cy="438912"/>
          </a:xfrm>
          <a:prstGeom prst="rect">
            <a:avLst/>
          </a:prstGeom>
          <a:noFill/>
          <a:ln/>
        </p:spPr>
        <p:txBody>
          <a:bodyPr wrap="square"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CORS</a:t>
            </a:r>
            <a:endParaRPr lang="en-US" sz="1100" dirty="0"/>
          </a:p>
        </p:txBody>
      </p:sp>
      <p:sp>
        <p:nvSpPr>
          <p:cNvPr id="24" name="Shape 22"/>
          <p:cNvSpPr/>
          <p:nvPr/>
        </p:nvSpPr>
        <p:spPr>
          <a:xfrm>
            <a:off x="274320" y="2542032"/>
            <a:ext cx="1325880" cy="621792"/>
          </a:xfrm>
          <a:prstGeom prst="rect">
            <a:avLst/>
          </a:prstGeom>
          <a:solidFill>
            <a:srgbClr val="047857"/>
          </a:solidFill>
          <a:ln w="12700">
            <a:solidFill>
              <a:srgbClr val="047857"/>
            </a:solidFill>
            <a:prstDash val="solid"/>
          </a:ln>
        </p:spPr>
      </p:sp>
      <p:sp>
        <p:nvSpPr>
          <p:cNvPr id="25" name="Text 23"/>
          <p:cNvSpPr/>
          <p:nvPr/>
        </p:nvSpPr>
        <p:spPr>
          <a:xfrm>
            <a:off x="274320" y="2542032"/>
            <a:ext cx="1325880"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 &amp; ML</a:t>
            </a:r>
            <a:endParaRPr lang="en-US" sz="1300" dirty="0"/>
          </a:p>
        </p:txBody>
      </p:sp>
      <p:sp>
        <p:nvSpPr>
          <p:cNvPr id="26" name="Shape 24"/>
          <p:cNvSpPr/>
          <p:nvPr/>
        </p:nvSpPr>
        <p:spPr>
          <a:xfrm>
            <a:off x="1737360" y="2624328"/>
            <a:ext cx="1691640" cy="438912"/>
          </a:xfrm>
          <a:prstGeom prst="rect">
            <a:avLst/>
          </a:prstGeom>
          <a:solidFill>
            <a:srgbClr val="FFFFFF"/>
          </a:solidFill>
          <a:ln w="12700">
            <a:solidFill>
              <a:srgbClr val="047857"/>
            </a:solidFill>
            <a:prstDash val="solid"/>
          </a:ln>
        </p:spPr>
      </p:sp>
      <p:sp>
        <p:nvSpPr>
          <p:cNvPr id="27" name="Text 25"/>
          <p:cNvSpPr/>
          <p:nvPr/>
        </p:nvSpPr>
        <p:spPr>
          <a:xfrm>
            <a:off x="1737360" y="2624328"/>
            <a:ext cx="1691640" cy="438912"/>
          </a:xfrm>
          <a:prstGeom prst="rect">
            <a:avLst/>
          </a:prstGeom>
          <a:noFill/>
          <a:ln/>
        </p:spPr>
        <p:txBody>
          <a:bodyPr wrap="square" rtlCol="0" anchor="ctr"/>
          <a:lstStyle/>
          <a:p>
            <a:pPr marL="0" indent="0" algn="ctr">
              <a:buNone/>
            </a:pPr>
            <a:r>
              <a:rPr lang="en-US" sz="1100" b="1" dirty="0">
                <a:solidFill>
                  <a:srgbClr val="047857"/>
                </a:solidFill>
                <a:latin typeface="Calibri" pitchFamily="34" charset="0"/>
                <a:ea typeface="Calibri" pitchFamily="34" charset="-122"/>
                <a:cs typeface="Calibri" pitchFamily="34" charset="-120"/>
              </a:rPr>
              <a:t>Random Forest</a:t>
            </a:r>
            <a:endParaRPr lang="en-US" sz="1100" dirty="0"/>
          </a:p>
        </p:txBody>
      </p:sp>
      <p:sp>
        <p:nvSpPr>
          <p:cNvPr id="28" name="Shape 26"/>
          <p:cNvSpPr/>
          <p:nvPr/>
        </p:nvSpPr>
        <p:spPr>
          <a:xfrm>
            <a:off x="3566160" y="2624328"/>
            <a:ext cx="1691640" cy="438912"/>
          </a:xfrm>
          <a:prstGeom prst="rect">
            <a:avLst/>
          </a:prstGeom>
          <a:solidFill>
            <a:srgbClr val="FFFFFF"/>
          </a:solidFill>
          <a:ln w="12700">
            <a:solidFill>
              <a:srgbClr val="047857"/>
            </a:solidFill>
            <a:prstDash val="solid"/>
          </a:ln>
        </p:spPr>
      </p:sp>
      <p:sp>
        <p:nvSpPr>
          <p:cNvPr id="29" name="Text 27"/>
          <p:cNvSpPr/>
          <p:nvPr/>
        </p:nvSpPr>
        <p:spPr>
          <a:xfrm>
            <a:off x="3566160" y="2624328"/>
            <a:ext cx="1691640" cy="438912"/>
          </a:xfrm>
          <a:prstGeom prst="rect">
            <a:avLst/>
          </a:prstGeom>
          <a:noFill/>
          <a:ln/>
        </p:spPr>
        <p:txBody>
          <a:bodyPr wrap="square" rtlCol="0" anchor="ctr"/>
          <a:lstStyle/>
          <a:p>
            <a:pPr marL="0" indent="0" algn="ctr">
              <a:buNone/>
            </a:pPr>
            <a:r>
              <a:rPr lang="en-US" sz="1100" b="1" dirty="0">
                <a:solidFill>
                  <a:srgbClr val="047857"/>
                </a:solidFill>
                <a:latin typeface="Calibri" pitchFamily="34" charset="0"/>
                <a:ea typeface="Calibri" pitchFamily="34" charset="-122"/>
                <a:cs typeface="Calibri" pitchFamily="34" charset="-120"/>
              </a:rPr>
              <a:t>sent-transformers</a:t>
            </a:r>
            <a:endParaRPr lang="en-US" sz="1100" dirty="0"/>
          </a:p>
        </p:txBody>
      </p:sp>
      <p:sp>
        <p:nvSpPr>
          <p:cNvPr id="30" name="Shape 28"/>
          <p:cNvSpPr/>
          <p:nvPr/>
        </p:nvSpPr>
        <p:spPr>
          <a:xfrm>
            <a:off x="5394960" y="2624328"/>
            <a:ext cx="1691640" cy="438912"/>
          </a:xfrm>
          <a:prstGeom prst="rect">
            <a:avLst/>
          </a:prstGeom>
          <a:solidFill>
            <a:srgbClr val="FFFFFF"/>
          </a:solidFill>
          <a:ln w="12700">
            <a:solidFill>
              <a:srgbClr val="047857"/>
            </a:solidFill>
            <a:prstDash val="solid"/>
          </a:ln>
        </p:spPr>
      </p:sp>
      <p:sp>
        <p:nvSpPr>
          <p:cNvPr id="31" name="Text 29"/>
          <p:cNvSpPr/>
          <p:nvPr/>
        </p:nvSpPr>
        <p:spPr>
          <a:xfrm>
            <a:off x="5394960" y="2624328"/>
            <a:ext cx="1691640" cy="438912"/>
          </a:xfrm>
          <a:prstGeom prst="rect">
            <a:avLst/>
          </a:prstGeom>
          <a:noFill/>
          <a:ln/>
        </p:spPr>
        <p:txBody>
          <a:bodyPr wrap="square" rtlCol="0" anchor="ctr"/>
          <a:lstStyle/>
          <a:p>
            <a:pPr marL="0" indent="0" algn="ctr">
              <a:buNone/>
            </a:pPr>
            <a:r>
              <a:rPr lang="en-US" sz="1100" b="1" dirty="0">
                <a:solidFill>
                  <a:srgbClr val="047857"/>
                </a:solidFill>
                <a:latin typeface="Calibri" pitchFamily="34" charset="0"/>
                <a:ea typeface="Calibri" pitchFamily="34" charset="-122"/>
                <a:cs typeface="Calibri" pitchFamily="34" charset="-120"/>
              </a:rPr>
              <a:t>FAISS/ChromaDB</a:t>
            </a:r>
            <a:endParaRPr lang="en-US" sz="1100" dirty="0"/>
          </a:p>
        </p:txBody>
      </p:sp>
      <p:sp>
        <p:nvSpPr>
          <p:cNvPr id="32" name="Shape 30"/>
          <p:cNvSpPr/>
          <p:nvPr/>
        </p:nvSpPr>
        <p:spPr>
          <a:xfrm>
            <a:off x="7223760" y="2624328"/>
            <a:ext cx="1691640" cy="438912"/>
          </a:xfrm>
          <a:prstGeom prst="rect">
            <a:avLst/>
          </a:prstGeom>
          <a:solidFill>
            <a:srgbClr val="FFFFFF"/>
          </a:solidFill>
          <a:ln w="12700">
            <a:solidFill>
              <a:srgbClr val="047857"/>
            </a:solidFill>
            <a:prstDash val="solid"/>
          </a:ln>
        </p:spPr>
      </p:sp>
      <p:sp>
        <p:nvSpPr>
          <p:cNvPr id="33" name="Text 31"/>
          <p:cNvSpPr/>
          <p:nvPr/>
        </p:nvSpPr>
        <p:spPr>
          <a:xfrm>
            <a:off x="7223760" y="2624328"/>
            <a:ext cx="1691640" cy="438912"/>
          </a:xfrm>
          <a:prstGeom prst="rect">
            <a:avLst/>
          </a:prstGeom>
          <a:noFill/>
          <a:ln/>
        </p:spPr>
        <p:txBody>
          <a:bodyPr wrap="square" rtlCol="0" anchor="ctr"/>
          <a:lstStyle/>
          <a:p>
            <a:pPr marL="0" indent="0" algn="ctr">
              <a:buNone/>
            </a:pPr>
            <a:r>
              <a:rPr lang="en-US" sz="1100" b="1" dirty="0">
                <a:solidFill>
                  <a:srgbClr val="047857"/>
                </a:solidFill>
                <a:latin typeface="Calibri" pitchFamily="34" charset="0"/>
                <a:ea typeface="Calibri" pitchFamily="34" charset="-122"/>
                <a:cs typeface="Calibri" pitchFamily="34" charset="-120"/>
              </a:rPr>
              <a:t>Gemini API</a:t>
            </a:r>
            <a:endParaRPr lang="en-US" sz="1100" dirty="0"/>
          </a:p>
        </p:txBody>
      </p:sp>
      <p:sp>
        <p:nvSpPr>
          <p:cNvPr id="34" name="Shape 32"/>
          <p:cNvSpPr/>
          <p:nvPr/>
        </p:nvSpPr>
        <p:spPr>
          <a:xfrm>
            <a:off x="274320" y="3346704"/>
            <a:ext cx="1325880" cy="621792"/>
          </a:xfrm>
          <a:prstGeom prst="rect">
            <a:avLst/>
          </a:prstGeom>
          <a:solidFill>
            <a:srgbClr val="6D28D9"/>
          </a:solidFill>
          <a:ln w="12700">
            <a:solidFill>
              <a:srgbClr val="6D28D9"/>
            </a:solidFill>
            <a:prstDash val="solid"/>
          </a:ln>
        </p:spPr>
      </p:sp>
      <p:sp>
        <p:nvSpPr>
          <p:cNvPr id="35" name="Text 33"/>
          <p:cNvSpPr/>
          <p:nvPr/>
        </p:nvSpPr>
        <p:spPr>
          <a:xfrm>
            <a:off x="274320" y="3346704"/>
            <a:ext cx="1325880"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Database</a:t>
            </a:r>
            <a:endParaRPr lang="en-US" sz="1300" dirty="0"/>
          </a:p>
        </p:txBody>
      </p:sp>
      <p:sp>
        <p:nvSpPr>
          <p:cNvPr id="36" name="Shape 34"/>
          <p:cNvSpPr/>
          <p:nvPr/>
        </p:nvSpPr>
        <p:spPr>
          <a:xfrm>
            <a:off x="1737360" y="3429000"/>
            <a:ext cx="1691640" cy="438912"/>
          </a:xfrm>
          <a:prstGeom prst="rect">
            <a:avLst/>
          </a:prstGeom>
          <a:solidFill>
            <a:srgbClr val="FFFFFF"/>
          </a:solidFill>
          <a:ln w="12700">
            <a:solidFill>
              <a:srgbClr val="6D28D9"/>
            </a:solidFill>
            <a:prstDash val="solid"/>
          </a:ln>
        </p:spPr>
      </p:sp>
      <p:sp>
        <p:nvSpPr>
          <p:cNvPr id="37" name="Text 35"/>
          <p:cNvSpPr/>
          <p:nvPr/>
        </p:nvSpPr>
        <p:spPr>
          <a:xfrm>
            <a:off x="1737360" y="3429000"/>
            <a:ext cx="1691640" cy="438912"/>
          </a:xfrm>
          <a:prstGeom prst="rect">
            <a:avLst/>
          </a:prstGeom>
          <a:noFill/>
          <a:ln/>
        </p:spPr>
        <p:txBody>
          <a:bodyPr wrap="square" rtlCol="0" anchor="ctr"/>
          <a:lstStyle/>
          <a:p>
            <a:pPr marL="0" indent="0" algn="ctr">
              <a:buNone/>
            </a:pPr>
            <a:r>
              <a:rPr lang="en-US" sz="1100" b="1" dirty="0">
                <a:solidFill>
                  <a:srgbClr val="6D28D9"/>
                </a:solidFill>
                <a:latin typeface="Calibri" pitchFamily="34" charset="0"/>
                <a:ea typeface="Calibri" pitchFamily="34" charset="-122"/>
                <a:cs typeface="Calibri" pitchFamily="34" charset="-120"/>
              </a:rPr>
              <a:t>Firebase Firestore</a:t>
            </a:r>
            <a:endParaRPr lang="en-US" sz="1100" dirty="0"/>
          </a:p>
        </p:txBody>
      </p:sp>
      <p:sp>
        <p:nvSpPr>
          <p:cNvPr id="38" name="Shape 36"/>
          <p:cNvSpPr/>
          <p:nvPr/>
        </p:nvSpPr>
        <p:spPr>
          <a:xfrm>
            <a:off x="3566160" y="3429000"/>
            <a:ext cx="1691640" cy="438912"/>
          </a:xfrm>
          <a:prstGeom prst="rect">
            <a:avLst/>
          </a:prstGeom>
          <a:solidFill>
            <a:srgbClr val="FFFFFF"/>
          </a:solidFill>
          <a:ln w="12700">
            <a:solidFill>
              <a:srgbClr val="6D28D9"/>
            </a:solidFill>
            <a:prstDash val="solid"/>
          </a:ln>
        </p:spPr>
      </p:sp>
      <p:sp>
        <p:nvSpPr>
          <p:cNvPr id="39" name="Text 37"/>
          <p:cNvSpPr/>
          <p:nvPr/>
        </p:nvSpPr>
        <p:spPr>
          <a:xfrm>
            <a:off x="3566160" y="3429000"/>
            <a:ext cx="1691640" cy="438912"/>
          </a:xfrm>
          <a:prstGeom prst="rect">
            <a:avLst/>
          </a:prstGeom>
          <a:noFill/>
          <a:ln/>
        </p:spPr>
        <p:txBody>
          <a:bodyPr wrap="square" rtlCol="0" anchor="ctr"/>
          <a:lstStyle/>
          <a:p>
            <a:pPr marL="0" indent="0" algn="ctr">
              <a:buNone/>
            </a:pPr>
            <a:r>
              <a:rPr lang="en-US" sz="1100" b="1" dirty="0">
                <a:solidFill>
                  <a:srgbClr val="6D28D9"/>
                </a:solidFill>
                <a:latin typeface="Calibri" pitchFamily="34" charset="0"/>
                <a:ea typeface="Calibri" pitchFamily="34" charset="-122"/>
                <a:cs typeface="Calibri" pitchFamily="34" charset="-120"/>
              </a:rPr>
              <a:t>SQLite/PostgreSQL</a:t>
            </a:r>
            <a:endParaRPr lang="en-US" sz="1100" dirty="0"/>
          </a:p>
        </p:txBody>
      </p:sp>
      <p:sp>
        <p:nvSpPr>
          <p:cNvPr id="40" name="Shape 38"/>
          <p:cNvSpPr/>
          <p:nvPr/>
        </p:nvSpPr>
        <p:spPr>
          <a:xfrm>
            <a:off x="5394960" y="3429000"/>
            <a:ext cx="1691640" cy="438912"/>
          </a:xfrm>
          <a:prstGeom prst="rect">
            <a:avLst/>
          </a:prstGeom>
          <a:solidFill>
            <a:srgbClr val="FFFFFF"/>
          </a:solidFill>
          <a:ln w="12700">
            <a:solidFill>
              <a:srgbClr val="6D28D9"/>
            </a:solidFill>
            <a:prstDash val="solid"/>
          </a:ln>
        </p:spPr>
      </p:sp>
      <p:sp>
        <p:nvSpPr>
          <p:cNvPr id="41" name="Text 39"/>
          <p:cNvSpPr/>
          <p:nvPr/>
        </p:nvSpPr>
        <p:spPr>
          <a:xfrm>
            <a:off x="5394960" y="3429000"/>
            <a:ext cx="1691640" cy="438912"/>
          </a:xfrm>
          <a:prstGeom prst="rect">
            <a:avLst/>
          </a:prstGeom>
          <a:noFill/>
          <a:ln/>
        </p:spPr>
        <p:txBody>
          <a:bodyPr wrap="square" rtlCol="0" anchor="ctr"/>
          <a:lstStyle/>
          <a:p>
            <a:pPr marL="0" indent="0" algn="ctr">
              <a:buNone/>
            </a:pPr>
            <a:r>
              <a:rPr lang="en-US" sz="1100" b="1" dirty="0">
                <a:solidFill>
                  <a:srgbClr val="6D28D9"/>
                </a:solidFill>
                <a:latin typeface="Calibri" pitchFamily="34" charset="0"/>
                <a:ea typeface="Calibri" pitchFamily="34" charset="-122"/>
                <a:cs typeface="Calibri" pitchFamily="34" charset="-120"/>
              </a:rPr>
              <a:t>Vector Index (.faiss)</a:t>
            </a:r>
            <a:endParaRPr lang="en-US" sz="1100" dirty="0"/>
          </a:p>
        </p:txBody>
      </p:sp>
      <p:sp>
        <p:nvSpPr>
          <p:cNvPr id="42" name="Shape 40"/>
          <p:cNvSpPr/>
          <p:nvPr/>
        </p:nvSpPr>
        <p:spPr>
          <a:xfrm>
            <a:off x="7223760" y="3429000"/>
            <a:ext cx="1691640" cy="438912"/>
          </a:xfrm>
          <a:prstGeom prst="rect">
            <a:avLst/>
          </a:prstGeom>
          <a:solidFill>
            <a:srgbClr val="FFFFFF"/>
          </a:solidFill>
          <a:ln w="12700">
            <a:solidFill>
              <a:srgbClr val="6D28D9"/>
            </a:solidFill>
            <a:prstDash val="solid"/>
          </a:ln>
        </p:spPr>
      </p:sp>
      <p:sp>
        <p:nvSpPr>
          <p:cNvPr id="43" name="Text 41"/>
          <p:cNvSpPr/>
          <p:nvPr/>
        </p:nvSpPr>
        <p:spPr>
          <a:xfrm>
            <a:off x="7223760" y="3429000"/>
            <a:ext cx="1691640" cy="438912"/>
          </a:xfrm>
          <a:prstGeom prst="rect">
            <a:avLst/>
          </a:prstGeom>
          <a:noFill/>
          <a:ln/>
        </p:spPr>
        <p:txBody>
          <a:bodyPr wrap="square" rtlCol="0" anchor="ctr"/>
          <a:lstStyle/>
          <a:p>
            <a:pPr marL="0" indent="0" algn="ctr">
              <a:buNone/>
            </a:pPr>
            <a:r>
              <a:rPr lang="en-US" sz="1100" b="1" dirty="0">
                <a:solidFill>
                  <a:srgbClr val="6D28D9"/>
                </a:solidFill>
                <a:latin typeface="Calibri" pitchFamily="34" charset="0"/>
                <a:ea typeface="Calibri" pitchFamily="34" charset="-122"/>
                <a:cs typeface="Calibri" pitchFamily="34" charset="-120"/>
              </a:rPr>
              <a:t>Model (.pkl)</a:t>
            </a:r>
            <a:endParaRPr lang="en-US" sz="1100" dirty="0"/>
          </a:p>
        </p:txBody>
      </p:sp>
      <p:sp>
        <p:nvSpPr>
          <p:cNvPr id="44" name="Shape 42"/>
          <p:cNvSpPr/>
          <p:nvPr/>
        </p:nvSpPr>
        <p:spPr>
          <a:xfrm>
            <a:off x="274320" y="4151376"/>
            <a:ext cx="1325880" cy="621792"/>
          </a:xfrm>
          <a:prstGeom prst="rect">
            <a:avLst/>
          </a:prstGeom>
          <a:solidFill>
            <a:srgbClr val="92400E"/>
          </a:solidFill>
          <a:ln w="12700">
            <a:solidFill>
              <a:srgbClr val="92400E"/>
            </a:solidFill>
            <a:prstDash val="solid"/>
          </a:ln>
        </p:spPr>
      </p:sp>
      <p:sp>
        <p:nvSpPr>
          <p:cNvPr id="45" name="Text 43"/>
          <p:cNvSpPr/>
          <p:nvPr/>
        </p:nvSpPr>
        <p:spPr>
          <a:xfrm>
            <a:off x="274320" y="4151376"/>
            <a:ext cx="1325880" cy="62179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Deploy</a:t>
            </a:r>
            <a:endParaRPr lang="en-US" sz="1300" dirty="0"/>
          </a:p>
        </p:txBody>
      </p:sp>
      <p:sp>
        <p:nvSpPr>
          <p:cNvPr id="46" name="Shape 44"/>
          <p:cNvSpPr/>
          <p:nvPr/>
        </p:nvSpPr>
        <p:spPr>
          <a:xfrm>
            <a:off x="1737360" y="4233672"/>
            <a:ext cx="1691640" cy="438912"/>
          </a:xfrm>
          <a:prstGeom prst="rect">
            <a:avLst/>
          </a:prstGeom>
          <a:solidFill>
            <a:srgbClr val="FFFFFF"/>
          </a:solidFill>
          <a:ln w="12700">
            <a:solidFill>
              <a:srgbClr val="92400E"/>
            </a:solidFill>
            <a:prstDash val="solid"/>
          </a:ln>
        </p:spPr>
      </p:sp>
      <p:sp>
        <p:nvSpPr>
          <p:cNvPr id="47" name="Text 45"/>
          <p:cNvSpPr/>
          <p:nvPr/>
        </p:nvSpPr>
        <p:spPr>
          <a:xfrm>
            <a:off x="1737360" y="4233672"/>
            <a:ext cx="1691640" cy="438912"/>
          </a:xfrm>
          <a:prstGeom prst="rect">
            <a:avLst/>
          </a:prstGeom>
          <a:noFill/>
          <a:ln/>
        </p:spPr>
        <p:txBody>
          <a:bodyPr wrap="square" rtlCol="0" anchor="ctr"/>
          <a:lstStyle/>
          <a:p>
            <a:pPr marL="0" indent="0" algn="ctr">
              <a:buNone/>
            </a:pPr>
            <a:r>
              <a:rPr lang="en-US" sz="1100" b="1" dirty="0">
                <a:solidFill>
                  <a:srgbClr val="92400E"/>
                </a:solidFill>
                <a:latin typeface="Calibri" pitchFamily="34" charset="0"/>
                <a:ea typeface="Calibri" pitchFamily="34" charset="-122"/>
                <a:cs typeface="Calibri" pitchFamily="34" charset="-120"/>
              </a:rPr>
              <a:t>Netlify / Vercel</a:t>
            </a:r>
            <a:endParaRPr lang="en-US" sz="1100" dirty="0"/>
          </a:p>
        </p:txBody>
      </p:sp>
      <p:sp>
        <p:nvSpPr>
          <p:cNvPr id="48" name="Shape 46"/>
          <p:cNvSpPr/>
          <p:nvPr/>
        </p:nvSpPr>
        <p:spPr>
          <a:xfrm>
            <a:off x="3566160" y="4233672"/>
            <a:ext cx="1691640" cy="438912"/>
          </a:xfrm>
          <a:prstGeom prst="rect">
            <a:avLst/>
          </a:prstGeom>
          <a:solidFill>
            <a:srgbClr val="FFFFFF"/>
          </a:solidFill>
          <a:ln w="12700">
            <a:solidFill>
              <a:srgbClr val="92400E"/>
            </a:solidFill>
            <a:prstDash val="solid"/>
          </a:ln>
        </p:spPr>
      </p:sp>
      <p:sp>
        <p:nvSpPr>
          <p:cNvPr id="49" name="Text 47"/>
          <p:cNvSpPr/>
          <p:nvPr/>
        </p:nvSpPr>
        <p:spPr>
          <a:xfrm>
            <a:off x="3566160" y="4233672"/>
            <a:ext cx="1691640" cy="438912"/>
          </a:xfrm>
          <a:prstGeom prst="rect">
            <a:avLst/>
          </a:prstGeom>
          <a:noFill/>
          <a:ln/>
        </p:spPr>
        <p:txBody>
          <a:bodyPr wrap="square" rtlCol="0" anchor="ctr"/>
          <a:lstStyle/>
          <a:p>
            <a:pPr marL="0" indent="0" algn="ctr">
              <a:buNone/>
            </a:pPr>
            <a:r>
              <a:rPr lang="en-US" sz="1100" b="1" dirty="0">
                <a:solidFill>
                  <a:srgbClr val="92400E"/>
                </a:solidFill>
                <a:latin typeface="Calibri" pitchFamily="34" charset="0"/>
                <a:ea typeface="Calibri" pitchFamily="34" charset="-122"/>
                <a:cs typeface="Calibri" pitchFamily="34" charset="-120"/>
              </a:rPr>
              <a:t>Render / Railway</a:t>
            </a:r>
            <a:endParaRPr lang="en-US" sz="1100" dirty="0"/>
          </a:p>
        </p:txBody>
      </p:sp>
      <p:sp>
        <p:nvSpPr>
          <p:cNvPr id="50" name="Shape 48"/>
          <p:cNvSpPr/>
          <p:nvPr/>
        </p:nvSpPr>
        <p:spPr>
          <a:xfrm>
            <a:off x="5394960" y="4233672"/>
            <a:ext cx="1691640" cy="438912"/>
          </a:xfrm>
          <a:prstGeom prst="rect">
            <a:avLst/>
          </a:prstGeom>
          <a:solidFill>
            <a:srgbClr val="FFFFFF"/>
          </a:solidFill>
          <a:ln w="12700">
            <a:solidFill>
              <a:srgbClr val="92400E"/>
            </a:solidFill>
            <a:prstDash val="solid"/>
          </a:ln>
        </p:spPr>
      </p:sp>
      <p:sp>
        <p:nvSpPr>
          <p:cNvPr id="51" name="Text 49"/>
          <p:cNvSpPr/>
          <p:nvPr/>
        </p:nvSpPr>
        <p:spPr>
          <a:xfrm>
            <a:off x="5394960" y="4233672"/>
            <a:ext cx="1691640" cy="438912"/>
          </a:xfrm>
          <a:prstGeom prst="rect">
            <a:avLst/>
          </a:prstGeom>
          <a:noFill/>
          <a:ln/>
        </p:spPr>
        <p:txBody>
          <a:bodyPr wrap="square" rtlCol="0" anchor="ctr"/>
          <a:lstStyle/>
          <a:p>
            <a:pPr marL="0" indent="0" algn="ctr">
              <a:buNone/>
            </a:pPr>
            <a:r>
              <a:rPr lang="en-US" sz="1100" b="1" dirty="0">
                <a:solidFill>
                  <a:srgbClr val="92400E"/>
                </a:solidFill>
                <a:latin typeface="Calibri" pitchFamily="34" charset="0"/>
                <a:ea typeface="Calibri" pitchFamily="34" charset="-122"/>
                <a:cs typeface="Calibri" pitchFamily="34" charset="-120"/>
              </a:rPr>
              <a:t>GitHub Actions</a:t>
            </a:r>
            <a:endParaRPr lang="en-US" sz="1100" dirty="0"/>
          </a:p>
        </p:txBody>
      </p:sp>
      <p:sp>
        <p:nvSpPr>
          <p:cNvPr id="52" name="Shape 50"/>
          <p:cNvSpPr/>
          <p:nvPr/>
        </p:nvSpPr>
        <p:spPr>
          <a:xfrm>
            <a:off x="7223760" y="4233672"/>
            <a:ext cx="1691640" cy="438912"/>
          </a:xfrm>
          <a:prstGeom prst="rect">
            <a:avLst/>
          </a:prstGeom>
          <a:solidFill>
            <a:srgbClr val="FFFFFF"/>
          </a:solidFill>
          <a:ln w="12700">
            <a:solidFill>
              <a:srgbClr val="92400E"/>
            </a:solidFill>
            <a:prstDash val="solid"/>
          </a:ln>
        </p:spPr>
      </p:sp>
      <p:sp>
        <p:nvSpPr>
          <p:cNvPr id="53" name="Text 51"/>
          <p:cNvSpPr/>
          <p:nvPr/>
        </p:nvSpPr>
        <p:spPr>
          <a:xfrm>
            <a:off x="7223760" y="4233672"/>
            <a:ext cx="1691640" cy="438912"/>
          </a:xfrm>
          <a:prstGeom prst="rect">
            <a:avLst/>
          </a:prstGeom>
          <a:noFill/>
          <a:ln/>
        </p:spPr>
        <p:txBody>
          <a:bodyPr wrap="square" rtlCol="0" anchor="ctr"/>
          <a:lstStyle/>
          <a:p>
            <a:pPr marL="0" indent="0" algn="ctr">
              <a:buNone/>
            </a:pPr>
            <a:r>
              <a:rPr lang="en-US" sz="1100" b="1" dirty="0">
                <a:solidFill>
                  <a:srgbClr val="92400E"/>
                </a:solidFill>
                <a:latin typeface="Calibri" pitchFamily="34" charset="0"/>
                <a:ea typeface="Calibri" pitchFamily="34" charset="-122"/>
                <a:cs typeface="Calibri" pitchFamily="34" charset="-120"/>
              </a:rPr>
              <a:t>Env Variables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137160"/>
            <a:ext cx="8229600" cy="64008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Expected Results &amp; Impact</a:t>
            </a:r>
            <a:endParaRPr lang="en-US" sz="3400" dirty="0"/>
          </a:p>
        </p:txBody>
      </p:sp>
      <p:sp>
        <p:nvSpPr>
          <p:cNvPr id="3" name="Shape 1"/>
          <p:cNvSpPr/>
          <p:nvPr/>
        </p:nvSpPr>
        <p:spPr>
          <a:xfrm>
            <a:off x="365760" y="914400"/>
            <a:ext cx="1920240" cy="1463040"/>
          </a:xfrm>
          <a:prstGeom prst="rect">
            <a:avLst/>
          </a:prstGeom>
          <a:solidFill>
            <a:srgbClr val="0A2540"/>
          </a:solidFill>
          <a:ln w="12700">
            <a:solidFill>
              <a:srgbClr val="0891B2"/>
            </a:solidFill>
            <a:prstDash val="solid"/>
          </a:ln>
          <a:effectLst>
            <a:outerShdw blurRad="63500" dist="25400" dir="8100000" algn="bl" rotWithShape="0">
              <a:srgbClr val="000000">
                <a:alpha val="12000"/>
              </a:srgbClr>
            </a:outerShdw>
          </a:effectLst>
        </p:spPr>
      </p:sp>
      <p:sp>
        <p:nvSpPr>
          <p:cNvPr id="4" name="Text 2"/>
          <p:cNvSpPr/>
          <p:nvPr/>
        </p:nvSpPr>
        <p:spPr>
          <a:xfrm>
            <a:off x="365760" y="960120"/>
            <a:ext cx="1920240" cy="777240"/>
          </a:xfrm>
          <a:prstGeom prst="rect">
            <a:avLst/>
          </a:prstGeom>
          <a:noFill/>
          <a:ln/>
        </p:spPr>
        <p:txBody>
          <a:bodyPr wrap="square" rtlCol="0" anchor="b"/>
          <a:lstStyle/>
          <a:p>
            <a:pPr marL="0" indent="0" algn="ctr">
              <a:buNone/>
            </a:pPr>
            <a:r>
              <a:rPr lang="en-US" sz="3400" b="1" dirty="0">
                <a:solidFill>
                  <a:srgbClr val="0891B2"/>
                </a:solidFill>
                <a:latin typeface="Calibri" pitchFamily="34" charset="0"/>
                <a:ea typeface="Calibri" pitchFamily="34" charset="-122"/>
                <a:cs typeface="Calibri" pitchFamily="34" charset="-120"/>
              </a:rPr>
              <a:t>95%+</a:t>
            </a:r>
            <a:endParaRPr lang="en-US" sz="3400" dirty="0"/>
          </a:p>
        </p:txBody>
      </p:sp>
      <p:sp>
        <p:nvSpPr>
          <p:cNvPr id="5" name="Text 3"/>
          <p:cNvSpPr/>
          <p:nvPr/>
        </p:nvSpPr>
        <p:spPr>
          <a:xfrm>
            <a:off x="365760" y="1691640"/>
            <a:ext cx="1920240" cy="59436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Model Prediction</a:t>
            </a:r>
            <a:endParaRPr lang="en-US" sz="1100" dirty="0"/>
          </a:p>
          <a:p>
            <a:pPr marL="0" indent="0" algn="ctr">
              <a:buNone/>
            </a:pPr>
            <a:r>
              <a:rPr lang="en-US" sz="1100" dirty="0">
                <a:solidFill>
                  <a:srgbClr val="CBD5E1"/>
                </a:solidFill>
                <a:latin typeface="Calibri" pitchFamily="34" charset="0"/>
                <a:ea typeface="Calibri" pitchFamily="34" charset="-122"/>
                <a:cs typeface="Calibri" pitchFamily="34" charset="-120"/>
              </a:rPr>
              <a:t>Accuracy</a:t>
            </a:r>
            <a:endParaRPr lang="en-US" sz="1100" dirty="0"/>
          </a:p>
        </p:txBody>
      </p:sp>
      <p:sp>
        <p:nvSpPr>
          <p:cNvPr id="6" name="Shape 4"/>
          <p:cNvSpPr/>
          <p:nvPr/>
        </p:nvSpPr>
        <p:spPr>
          <a:xfrm>
            <a:off x="2468880" y="914400"/>
            <a:ext cx="1920240" cy="1463040"/>
          </a:xfrm>
          <a:prstGeom prst="rect">
            <a:avLst/>
          </a:prstGeom>
          <a:solidFill>
            <a:srgbClr val="0A2540"/>
          </a:solidFill>
          <a:ln w="12700">
            <a:solidFill>
              <a:srgbClr val="0891B2"/>
            </a:solidFill>
            <a:prstDash val="solid"/>
          </a:ln>
          <a:effectLst>
            <a:outerShdw blurRad="63500" dist="25400" dir="8100000" algn="bl" rotWithShape="0">
              <a:srgbClr val="000000">
                <a:alpha val="12000"/>
              </a:srgbClr>
            </a:outerShdw>
          </a:effectLst>
        </p:spPr>
      </p:sp>
      <p:sp>
        <p:nvSpPr>
          <p:cNvPr id="7" name="Text 5"/>
          <p:cNvSpPr/>
          <p:nvPr/>
        </p:nvSpPr>
        <p:spPr>
          <a:xfrm>
            <a:off x="2468880" y="960120"/>
            <a:ext cx="1920240" cy="777240"/>
          </a:xfrm>
          <a:prstGeom prst="rect">
            <a:avLst/>
          </a:prstGeom>
          <a:noFill/>
          <a:ln/>
        </p:spPr>
        <p:txBody>
          <a:bodyPr wrap="square" rtlCol="0" anchor="b"/>
          <a:lstStyle/>
          <a:p>
            <a:pPr marL="0" indent="0" algn="ctr">
              <a:buNone/>
            </a:pPr>
            <a:r>
              <a:rPr lang="en-US" sz="3400" b="1" dirty="0">
                <a:solidFill>
                  <a:srgbClr val="0891B2"/>
                </a:solidFill>
                <a:latin typeface="Calibri" pitchFamily="34" charset="0"/>
                <a:ea typeface="Calibri" pitchFamily="34" charset="-122"/>
                <a:cs typeface="Calibri" pitchFamily="34" charset="-120"/>
              </a:rPr>
              <a:t>20</a:t>
            </a:r>
            <a:endParaRPr lang="en-US" sz="3400" dirty="0"/>
          </a:p>
        </p:txBody>
      </p:sp>
      <p:sp>
        <p:nvSpPr>
          <p:cNvPr id="8" name="Text 6"/>
          <p:cNvSpPr/>
          <p:nvPr/>
        </p:nvSpPr>
        <p:spPr>
          <a:xfrm>
            <a:off x="2468880" y="1691640"/>
            <a:ext cx="1920240" cy="59436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Banks Covered</a:t>
            </a:r>
            <a:endParaRPr lang="en-US" sz="1100" dirty="0"/>
          </a:p>
          <a:p>
            <a:pPr marL="0" indent="0" algn="ctr">
              <a:buNone/>
            </a:pPr>
            <a:r>
              <a:rPr lang="en-US" sz="1100" dirty="0">
                <a:solidFill>
                  <a:srgbClr val="CBD5E1"/>
                </a:solidFill>
                <a:latin typeface="Calibri" pitchFamily="34" charset="0"/>
                <a:ea typeface="Calibri" pitchFamily="34" charset="-122"/>
                <a:cs typeface="Calibri" pitchFamily="34" charset="-120"/>
              </a:rPr>
              <a:t>by RAG Engine</a:t>
            </a:r>
            <a:endParaRPr lang="en-US" sz="1100" dirty="0"/>
          </a:p>
        </p:txBody>
      </p:sp>
      <p:sp>
        <p:nvSpPr>
          <p:cNvPr id="9" name="Shape 7"/>
          <p:cNvSpPr/>
          <p:nvPr/>
        </p:nvSpPr>
        <p:spPr>
          <a:xfrm>
            <a:off x="4572000" y="914400"/>
            <a:ext cx="1920240" cy="1463040"/>
          </a:xfrm>
          <a:prstGeom prst="rect">
            <a:avLst/>
          </a:prstGeom>
          <a:solidFill>
            <a:srgbClr val="0A2540"/>
          </a:solidFill>
          <a:ln w="12700">
            <a:solidFill>
              <a:srgbClr val="0891B2"/>
            </a:solidFill>
            <a:prstDash val="solid"/>
          </a:ln>
          <a:effectLst>
            <a:outerShdw blurRad="63500" dist="25400" dir="8100000" algn="bl" rotWithShape="0">
              <a:srgbClr val="000000">
                <a:alpha val="12000"/>
              </a:srgbClr>
            </a:outerShdw>
          </a:effectLst>
        </p:spPr>
      </p:sp>
      <p:sp>
        <p:nvSpPr>
          <p:cNvPr id="10" name="Text 8"/>
          <p:cNvSpPr/>
          <p:nvPr/>
        </p:nvSpPr>
        <p:spPr>
          <a:xfrm>
            <a:off x="4572000" y="960120"/>
            <a:ext cx="1920240" cy="777240"/>
          </a:xfrm>
          <a:prstGeom prst="rect">
            <a:avLst/>
          </a:prstGeom>
          <a:noFill/>
          <a:ln/>
        </p:spPr>
        <p:txBody>
          <a:bodyPr wrap="square" rtlCol="0" anchor="b"/>
          <a:lstStyle/>
          <a:p>
            <a:pPr marL="0" indent="0" algn="ctr">
              <a:buNone/>
            </a:pPr>
            <a:r>
              <a:rPr lang="en-US" sz="3400" b="1" dirty="0">
                <a:solidFill>
                  <a:srgbClr val="0891B2"/>
                </a:solidFill>
                <a:latin typeface="Calibri" pitchFamily="34" charset="0"/>
                <a:ea typeface="Calibri" pitchFamily="34" charset="-122"/>
                <a:cs typeface="Calibri" pitchFamily="34" charset="-120"/>
              </a:rPr>
              <a:t>&lt; 2s</a:t>
            </a:r>
            <a:endParaRPr lang="en-US" sz="3400" dirty="0"/>
          </a:p>
        </p:txBody>
      </p:sp>
      <p:sp>
        <p:nvSpPr>
          <p:cNvPr id="11" name="Text 9"/>
          <p:cNvSpPr/>
          <p:nvPr/>
        </p:nvSpPr>
        <p:spPr>
          <a:xfrm>
            <a:off x="4572000" y="1691640"/>
            <a:ext cx="1920240" cy="59436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Response Time</a:t>
            </a:r>
            <a:endParaRPr lang="en-US" sz="1100" dirty="0"/>
          </a:p>
          <a:p>
            <a:pPr marL="0" indent="0" algn="ctr">
              <a:buNone/>
            </a:pPr>
            <a:r>
              <a:rPr lang="en-US" sz="1100" dirty="0">
                <a:solidFill>
                  <a:srgbClr val="CBD5E1"/>
                </a:solidFill>
                <a:latin typeface="Calibri" pitchFamily="34" charset="0"/>
                <a:ea typeface="Calibri" pitchFamily="34" charset="-122"/>
                <a:cs typeface="Calibri" pitchFamily="34" charset="-120"/>
              </a:rPr>
              <a:t>for AI Prediction</a:t>
            </a:r>
            <a:endParaRPr lang="en-US" sz="1100" dirty="0"/>
          </a:p>
        </p:txBody>
      </p:sp>
      <p:sp>
        <p:nvSpPr>
          <p:cNvPr id="12" name="Shape 10"/>
          <p:cNvSpPr/>
          <p:nvPr/>
        </p:nvSpPr>
        <p:spPr>
          <a:xfrm>
            <a:off x="6675120" y="914400"/>
            <a:ext cx="1920240" cy="1463040"/>
          </a:xfrm>
          <a:prstGeom prst="rect">
            <a:avLst/>
          </a:prstGeom>
          <a:solidFill>
            <a:srgbClr val="0A2540"/>
          </a:solidFill>
          <a:ln w="12700">
            <a:solidFill>
              <a:srgbClr val="0891B2"/>
            </a:solidFill>
            <a:prstDash val="solid"/>
          </a:ln>
          <a:effectLst>
            <a:outerShdw blurRad="63500" dist="25400" dir="8100000" algn="bl" rotWithShape="0">
              <a:srgbClr val="000000">
                <a:alpha val="12000"/>
              </a:srgbClr>
            </a:outerShdw>
          </a:effectLst>
        </p:spPr>
      </p:sp>
      <p:sp>
        <p:nvSpPr>
          <p:cNvPr id="13" name="Text 11"/>
          <p:cNvSpPr/>
          <p:nvPr/>
        </p:nvSpPr>
        <p:spPr>
          <a:xfrm>
            <a:off x="6675120" y="960120"/>
            <a:ext cx="1920240" cy="777240"/>
          </a:xfrm>
          <a:prstGeom prst="rect">
            <a:avLst/>
          </a:prstGeom>
          <a:noFill/>
          <a:ln/>
        </p:spPr>
        <p:txBody>
          <a:bodyPr wrap="square" rtlCol="0" anchor="b"/>
          <a:lstStyle/>
          <a:p>
            <a:pPr marL="0" indent="0" algn="ctr">
              <a:buNone/>
            </a:pPr>
            <a:r>
              <a:rPr lang="en-US" sz="3400" b="1" dirty="0">
                <a:solidFill>
                  <a:srgbClr val="0891B2"/>
                </a:solidFill>
                <a:latin typeface="Calibri" pitchFamily="34" charset="0"/>
                <a:ea typeface="Calibri" pitchFamily="34" charset="-122"/>
                <a:cs typeface="Calibri" pitchFamily="34" charset="-120"/>
              </a:rPr>
              <a:t>100%</a:t>
            </a:r>
            <a:endParaRPr lang="en-US" sz="3400" dirty="0"/>
          </a:p>
        </p:txBody>
      </p:sp>
      <p:sp>
        <p:nvSpPr>
          <p:cNvPr id="14" name="Text 12"/>
          <p:cNvSpPr/>
          <p:nvPr/>
        </p:nvSpPr>
        <p:spPr>
          <a:xfrm>
            <a:off x="6675120" y="1691640"/>
            <a:ext cx="1920240" cy="594360"/>
          </a:xfrm>
          <a:prstGeom prst="rect">
            <a:avLst/>
          </a:prstGeom>
          <a:noFill/>
          <a:ln/>
        </p:spPr>
        <p:txBody>
          <a:bodyPr wrap="square"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Feature Parity</a:t>
            </a:r>
            <a:endParaRPr lang="en-US" sz="1100" dirty="0"/>
          </a:p>
          <a:p>
            <a:pPr marL="0" indent="0" algn="ctr">
              <a:buNone/>
            </a:pPr>
            <a:r>
              <a:rPr lang="en-US" sz="1100" dirty="0">
                <a:solidFill>
                  <a:srgbClr val="CBD5E1"/>
                </a:solidFill>
                <a:latin typeface="Calibri" pitchFamily="34" charset="0"/>
                <a:ea typeface="Calibri" pitchFamily="34" charset="-122"/>
                <a:cs typeface="Calibri" pitchFamily="34" charset="-120"/>
              </a:rPr>
              <a:t>with Mobile App</a:t>
            </a:r>
            <a:endParaRPr lang="en-US" sz="1100" dirty="0"/>
          </a:p>
        </p:txBody>
      </p:sp>
      <p:sp>
        <p:nvSpPr>
          <p:cNvPr id="15" name="Text 13"/>
          <p:cNvSpPr/>
          <p:nvPr/>
        </p:nvSpPr>
        <p:spPr>
          <a:xfrm>
            <a:off x="365760" y="2514600"/>
            <a:ext cx="8229600" cy="384048"/>
          </a:xfrm>
          <a:prstGeom prst="rect">
            <a:avLst/>
          </a:prstGeom>
          <a:noFill/>
          <a:ln/>
        </p:spPr>
        <p:txBody>
          <a:bodyPr wrap="square" rtlCol="0" anchor="ctr"/>
          <a:lstStyle/>
          <a:p>
            <a:pPr marL="0" indent="0">
              <a:buNone/>
            </a:pPr>
            <a:r>
              <a:rPr lang="en-US" sz="1600" b="1" dirty="0">
                <a:solidFill>
                  <a:srgbClr val="7DD3FC"/>
                </a:solidFill>
                <a:latin typeface="Calibri" pitchFamily="34" charset="0"/>
                <a:ea typeface="Calibri" pitchFamily="34" charset="-122"/>
                <a:cs typeface="Calibri" pitchFamily="34" charset="-120"/>
              </a:rPr>
              <a:t>Key Outcomes:</a:t>
            </a:r>
            <a:endParaRPr lang="en-US" sz="1600" dirty="0"/>
          </a:p>
        </p:txBody>
      </p:sp>
      <p:sp>
        <p:nvSpPr>
          <p:cNvPr id="16" name="Text 14"/>
          <p:cNvSpPr/>
          <p:nvPr/>
        </p:nvSpPr>
        <p:spPr>
          <a:xfrm>
            <a:off x="365760" y="2926080"/>
            <a:ext cx="8412480" cy="1920240"/>
          </a:xfrm>
          <a:prstGeom prst="rect">
            <a:avLst/>
          </a:prstGeom>
          <a:noFill/>
          <a:ln/>
        </p:spPr>
        <p:txBody>
          <a:bodyPr wrap="square" rtlCol="0" anchor="ctr"/>
          <a:lstStyle/>
          <a:p>
            <a:pPr marL="342900" indent="-342900">
              <a:buSzPct val="100000"/>
              <a:buChar char="•"/>
            </a:pPr>
            <a:r>
              <a:rPr lang="en-US" sz="1300" dirty="0">
                <a:solidFill>
                  <a:srgbClr val="E2E8F0"/>
                </a:solidFill>
                <a:latin typeface="Calibri" pitchFamily="34" charset="0"/>
                <a:ea typeface="Calibri" pitchFamily="34" charset="-122"/>
                <a:cs typeface="Calibri" pitchFamily="34" charset="-120"/>
              </a:rPr>
              <a:t>Full web application replacing Android app — accessible on any device, any browser</a:t>
            </a:r>
            <a:endParaRPr lang="en-US" sz="1300" dirty="0"/>
          </a:p>
          <a:p>
            <a:pPr marL="342900" indent="-342900">
              <a:buSzPct val="100000"/>
              <a:buChar char="•"/>
            </a:pPr>
            <a:r>
              <a:rPr lang="en-US" sz="1300" dirty="0">
                <a:solidFill>
                  <a:srgbClr val="E2E8F0"/>
                </a:solidFill>
                <a:latin typeface="Calibri" pitchFamily="34" charset="0"/>
                <a:ea typeface="Calibri" pitchFamily="34" charset="-122"/>
                <a:cs typeface="Calibri" pitchFamily="34" charset="-120"/>
              </a:rPr>
              <a:t>AI-powered bank matching reduces loan rejections by helping users prepare correctly</a:t>
            </a:r>
            <a:endParaRPr lang="en-US" sz="1300" dirty="0"/>
          </a:p>
          <a:p>
            <a:pPr marL="342900" indent="-342900">
              <a:buSzPct val="100000"/>
              <a:buChar char="•"/>
            </a:pPr>
            <a:r>
              <a:rPr lang="en-US" sz="1300" dirty="0">
                <a:solidFill>
                  <a:srgbClr val="E2E8F0"/>
                </a:solidFill>
                <a:latin typeface="Calibri" pitchFamily="34" charset="0"/>
                <a:ea typeface="Calibri" pitchFamily="34" charset="-122"/>
                <a:cs typeface="Calibri" pitchFamily="34" charset="-120"/>
              </a:rPr>
              <a:t>Hybrid chatbot handles 80% of queries free using rule-based NLP, minimal API cost</a:t>
            </a:r>
            <a:endParaRPr lang="en-US" sz="1300" dirty="0"/>
          </a:p>
          <a:p>
            <a:pPr marL="342900" indent="-342900">
              <a:buSzPct val="100000"/>
              <a:buChar char="•"/>
            </a:pPr>
            <a:r>
              <a:rPr lang="en-US" sz="1300" dirty="0">
                <a:solidFill>
                  <a:srgbClr val="E2E8F0"/>
                </a:solidFill>
                <a:latin typeface="Calibri" pitchFamily="34" charset="0"/>
                <a:ea typeface="Calibri" pitchFamily="34" charset="-122"/>
                <a:cs typeface="Calibri" pitchFamily="34" charset="-120"/>
              </a:rPr>
              <a:t>Students, salaried employees &amp; small business owners empowered with real financial tools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891B2"/>
          </a:solidFill>
          <a:ln w="12700">
            <a:solidFill>
              <a:srgbClr val="0891B2"/>
            </a:solidFill>
            <a:prstDash val="solid"/>
          </a:ln>
        </p:spPr>
      </p:sp>
      <p:sp>
        <p:nvSpPr>
          <p:cNvPr id="3" name="Shape 1"/>
          <p:cNvSpPr/>
          <p:nvPr/>
        </p:nvSpPr>
        <p:spPr>
          <a:xfrm>
            <a:off x="0" y="5079492"/>
            <a:ext cx="9144000" cy="64008"/>
          </a:xfrm>
          <a:prstGeom prst="rect">
            <a:avLst/>
          </a:prstGeom>
          <a:solidFill>
            <a:srgbClr val="0891B2"/>
          </a:solidFill>
          <a:ln w="12700">
            <a:solidFill>
              <a:srgbClr val="0891B2"/>
            </a:solidFill>
            <a:prstDash val="solid"/>
          </a:ln>
        </p:spPr>
      </p:sp>
      <p:sp>
        <p:nvSpPr>
          <p:cNvPr id="4" name="Text 2"/>
          <p:cNvSpPr/>
          <p:nvPr/>
        </p:nvSpPr>
        <p:spPr>
          <a:xfrm>
            <a:off x="457200" y="182880"/>
            <a:ext cx="8229600" cy="73152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Conclusion</a:t>
            </a:r>
            <a:endParaRPr lang="en-US" sz="4000" dirty="0"/>
          </a:p>
        </p:txBody>
      </p:sp>
      <p:sp>
        <p:nvSpPr>
          <p:cNvPr id="5" name="Shape 3"/>
          <p:cNvSpPr/>
          <p:nvPr/>
        </p:nvSpPr>
        <p:spPr>
          <a:xfrm>
            <a:off x="457200" y="1005840"/>
            <a:ext cx="8229600" cy="1737360"/>
          </a:xfrm>
          <a:prstGeom prst="rect">
            <a:avLst/>
          </a:prstGeom>
          <a:solidFill>
            <a:srgbClr val="0A2540"/>
          </a:solidFill>
          <a:ln w="12700">
            <a:solidFill>
              <a:srgbClr val="0891B2"/>
            </a:solidFill>
            <a:prstDash val="solid"/>
          </a:ln>
          <a:effectLst>
            <a:outerShdw blurRad="63500" dist="25400" dir="8100000" algn="bl" rotWithShape="0">
              <a:srgbClr val="000000">
                <a:alpha val="12000"/>
              </a:srgbClr>
            </a:outerShdw>
          </a:effectLst>
        </p:spPr>
      </p:sp>
      <p:sp>
        <p:nvSpPr>
          <p:cNvPr id="6" name="Text 4"/>
          <p:cNvSpPr/>
          <p:nvPr/>
        </p:nvSpPr>
        <p:spPr>
          <a:xfrm>
            <a:off x="640080" y="1051560"/>
            <a:ext cx="7863840" cy="1645920"/>
          </a:xfrm>
          <a:prstGeom prst="rect">
            <a:avLst/>
          </a:prstGeom>
          <a:noFill/>
          <a:ln/>
        </p:spPr>
        <p:txBody>
          <a:bodyPr wrap="square" rtlCol="0" anchor="ctr"/>
          <a:lstStyle/>
          <a:p>
            <a:pPr marL="0" indent="0">
              <a:buNone/>
            </a:pPr>
            <a:r>
              <a:rPr lang="en-US" sz="1300" dirty="0">
                <a:solidFill>
                  <a:srgbClr val="E2E8F0"/>
                </a:solidFill>
                <a:latin typeface="Calibri" pitchFamily="34" charset="0"/>
                <a:ea typeface="Calibri" pitchFamily="34" charset="-122"/>
                <a:cs typeface="Calibri" pitchFamily="34" charset="-120"/>
              </a:rPr>
              <a:t>SmartLoan AI upgrades a mobile-only loan advisory app into a full web platform — combining a trained Random Forest ML model, a 20-bank RAG policy engine, a hybrid AI chatbot, and comprehensive financial tools (EMI, simulation, health score) into a single responsive web application built with React.js and Flask. Every existing feature is preserved, and the new bank policy intelligence layer adds significant real-world value.</a:t>
            </a:r>
            <a:endParaRPr lang="en-US" sz="1300" dirty="0"/>
          </a:p>
        </p:txBody>
      </p:sp>
      <p:sp>
        <p:nvSpPr>
          <p:cNvPr id="7" name="Text 5"/>
          <p:cNvSpPr/>
          <p:nvPr/>
        </p:nvSpPr>
        <p:spPr>
          <a:xfrm>
            <a:off x="457200" y="2926080"/>
            <a:ext cx="4114800" cy="365760"/>
          </a:xfrm>
          <a:prstGeom prst="rect">
            <a:avLst/>
          </a:prstGeom>
          <a:noFill/>
          <a:ln/>
        </p:spPr>
        <p:txBody>
          <a:bodyPr wrap="square" rtlCol="0" anchor="ctr"/>
          <a:lstStyle/>
          <a:p>
            <a:pPr marL="0" indent="0">
              <a:buNone/>
            </a:pPr>
            <a:r>
              <a:rPr lang="en-US" sz="1300" b="1" dirty="0">
                <a:solidFill>
                  <a:srgbClr val="7DD3FC"/>
                </a:solidFill>
                <a:latin typeface="Calibri" pitchFamily="34" charset="0"/>
                <a:ea typeface="Calibri" pitchFamily="34" charset="-122"/>
                <a:cs typeface="Calibri" pitchFamily="34" charset="-120"/>
              </a:rPr>
              <a:t>Project Team</a:t>
            </a:r>
            <a:endParaRPr lang="en-US" sz="1300" dirty="0"/>
          </a:p>
        </p:txBody>
      </p:sp>
      <p:sp>
        <p:nvSpPr>
          <p:cNvPr id="8" name="Text 6"/>
          <p:cNvSpPr/>
          <p:nvPr/>
        </p:nvSpPr>
        <p:spPr>
          <a:xfrm>
            <a:off x="457200" y="3337560"/>
            <a:ext cx="4114800" cy="12801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Majid Iqbal</a:t>
            </a:r>
            <a:r>
              <a:rPr lang="en-US" sz="1400" dirty="0">
                <a:solidFill>
                  <a:srgbClr val="CBD5E1"/>
                </a:solidFill>
                <a:latin typeface="Calibri" pitchFamily="34" charset="0"/>
                <a:ea typeface="Calibri" pitchFamily="34" charset="-122"/>
                <a:cs typeface="Calibri" pitchFamily="34" charset="-120"/>
              </a:rPr>
              <a:t>  ·  BSCSM-A-23-25</a:t>
            </a:r>
            <a:r>
              <a:rPr lang="en-US" sz="1400" dirty="0">
                <a:solidFill>
                  <a:srgbClr val="000000"/>
                </a:solidFill>
                <a:latin typeface="Calibri" pitchFamily="34" charset="0"/>
                <a:ea typeface="Calibri" pitchFamily="34" charset="-122"/>
                <a:cs typeface="Calibri" pitchFamily="34" charset="-120"/>
              </a:rPr>
              <a:t>
</a:t>
            </a:r>
            <a:r>
              <a:rPr lang="en-US" sz="1400" b="1" dirty="0">
                <a:solidFill>
                  <a:srgbClr val="FFFFFF"/>
                </a:solidFill>
                <a:latin typeface="Calibri" pitchFamily="34" charset="0"/>
                <a:ea typeface="Calibri" pitchFamily="34" charset="-122"/>
                <a:cs typeface="Calibri" pitchFamily="34" charset="-120"/>
              </a:rPr>
              <a:t>Rameez Akhtar</a:t>
            </a:r>
            <a:r>
              <a:rPr lang="en-US" sz="1400" dirty="0">
                <a:solidFill>
                  <a:srgbClr val="CBD5E1"/>
                </a:solidFill>
                <a:latin typeface="Calibri" pitchFamily="34" charset="0"/>
                <a:ea typeface="Calibri" pitchFamily="34" charset="-122"/>
                <a:cs typeface="Calibri" pitchFamily="34" charset="-120"/>
              </a:rPr>
              <a:t>  ·  BSCSM-A-23-17</a:t>
            </a:r>
            <a:endParaRPr lang="en-US" sz="1400" dirty="0"/>
          </a:p>
        </p:txBody>
      </p:sp>
      <p:sp>
        <p:nvSpPr>
          <p:cNvPr id="9" name="Text 7"/>
          <p:cNvSpPr/>
          <p:nvPr/>
        </p:nvSpPr>
        <p:spPr>
          <a:xfrm>
            <a:off x="5029200" y="2926080"/>
            <a:ext cx="3657600" cy="365760"/>
          </a:xfrm>
          <a:prstGeom prst="rect">
            <a:avLst/>
          </a:prstGeom>
          <a:noFill/>
          <a:ln/>
        </p:spPr>
        <p:txBody>
          <a:bodyPr wrap="square" rtlCol="0" anchor="ctr"/>
          <a:lstStyle/>
          <a:p>
            <a:pPr marL="0" indent="0">
              <a:buNone/>
            </a:pPr>
            <a:r>
              <a:rPr lang="en-US" sz="1300" b="1" dirty="0">
                <a:solidFill>
                  <a:srgbClr val="7DD3FC"/>
                </a:solidFill>
                <a:latin typeface="Calibri" pitchFamily="34" charset="0"/>
                <a:ea typeface="Calibri" pitchFamily="34" charset="-122"/>
                <a:cs typeface="Calibri" pitchFamily="34" charset="-120"/>
              </a:rPr>
              <a:t>Supervised By</a:t>
            </a:r>
            <a:endParaRPr lang="en-US" sz="1300" dirty="0"/>
          </a:p>
        </p:txBody>
      </p:sp>
      <p:sp>
        <p:nvSpPr>
          <p:cNvPr id="10" name="Text 8"/>
          <p:cNvSpPr/>
          <p:nvPr/>
        </p:nvSpPr>
        <p:spPr>
          <a:xfrm>
            <a:off x="5029200" y="3337560"/>
            <a:ext cx="3657600" cy="12801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Faisal Hafeez</a:t>
            </a:r>
            <a:r>
              <a:rPr lang="en-US" sz="1400" dirty="0">
                <a:solidFill>
                  <a:srgbClr val="000000"/>
                </a:solidFill>
                <a:latin typeface="Calibri" pitchFamily="34" charset="0"/>
                <a:ea typeface="Calibri" pitchFamily="34" charset="-122"/>
                <a:cs typeface="Calibri" pitchFamily="34" charset="-120"/>
              </a:rPr>
              <a:t>
</a:t>
            </a:r>
            <a:r>
              <a:rPr lang="en-US" sz="1400" dirty="0">
                <a:solidFill>
                  <a:srgbClr val="CBD5E1"/>
                </a:solidFill>
                <a:latin typeface="Calibri" pitchFamily="34" charset="0"/>
                <a:ea typeface="Calibri" pitchFamily="34" charset="-122"/>
                <a:cs typeface="Calibri" pitchFamily="34" charset="-120"/>
              </a:rPr>
              <a:t>Department of Computer Science</a:t>
            </a:r>
            <a:r>
              <a:rPr lang="en-US" sz="1400" dirty="0">
                <a:solidFill>
                  <a:srgbClr val="000000"/>
                </a:solidFill>
                <a:latin typeface="Calibri" pitchFamily="34" charset="0"/>
                <a:ea typeface="Calibri" pitchFamily="34" charset="-122"/>
                <a:cs typeface="Calibri" pitchFamily="34" charset="-120"/>
              </a:rPr>
              <a:t>
</a:t>
            </a:r>
            <a:r>
              <a:rPr lang="en-US" sz="1400" dirty="0">
                <a:solidFill>
                  <a:srgbClr val="CBD5E1"/>
                </a:solidFill>
                <a:latin typeface="Calibri" pitchFamily="34" charset="0"/>
                <a:ea typeface="Calibri" pitchFamily="34" charset="-122"/>
                <a:cs typeface="Calibri" pitchFamily="34" charset="-120"/>
              </a:rPr>
              <a:t>University of Layyah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813</Words>
  <Application>Microsoft Office PowerPoint</Application>
  <PresentationFormat>On-screen Show (16:9)</PresentationFormat>
  <Paragraphs>216</Paragraphs>
  <Slides>12</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SmartLoan AI - Web Financial Advisory System</dc:title>
  <dc:subject>PptxGenJS Presentation</dc:subject>
  <dc:creator>Majid Iqbal, Rameez Akhtar</dc:creator>
  <cp:lastModifiedBy>Rameez Akhtar</cp:lastModifiedBy>
  <cp:revision>2</cp:revision>
  <dcterms:created xsi:type="dcterms:W3CDTF">2026-06-03T03:57:16Z</dcterms:created>
  <dcterms:modified xsi:type="dcterms:W3CDTF">2026-06-03T04:22:39Z</dcterms:modified>
</cp:coreProperties>
</file>